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y="5143500" cx="9144000"/>
  <p:notesSz cx="6858000" cy="9144000"/>
  <p:embeddedFontLst>
    <p:embeddedFont>
      <p:font typeface="Oswald Light"/>
      <p:regular r:id="rId27"/>
      <p:bold r:id="rId28"/>
    </p:embeddedFont>
    <p:embeddedFont>
      <p:font typeface="Average"/>
      <p:regular r:id="rId29"/>
    </p:embeddedFont>
    <p:embeddedFont>
      <p:font typeface="Oswald"/>
      <p:regular r:id="rId30"/>
      <p:bold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99C4B19-8DFC-4C2B-A7D9-31AAD03009BB}">
  <a:tblStyle styleId="{099C4B19-8DFC-4C2B-A7D9-31AAD03009BB}"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OswaldLight-bold.fntdata"/><Relationship Id="rId27" Type="http://schemas.openxmlformats.org/officeDocument/2006/relationships/font" Target="fonts/OswaldLight-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Average-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Oswald-bold.fntdata"/><Relationship Id="rId30" Type="http://schemas.openxmlformats.org/officeDocument/2006/relationships/font" Target="fonts/Oswald-regular.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c7c35c9d66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c7c35c9d66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c7c35c9d6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c7c35c9d6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c7c35c9d66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c7c35c9d66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c7c35c9d66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c7c35c9d66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c7c35c9d66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c7c35c9d66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c7c35c9d66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c7c35c9d66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cb645736f5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cb645736f5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cb645736f5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cb645736f5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Undersampled image already retains a lot of its structure, so the network focuses on cleaning it up rather than completely restructuring it</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cb645736f5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cb645736f5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solidFill>
                  <a:schemeClr val="dk1"/>
                </a:solidFill>
                <a:latin typeface="Times New Roman"/>
                <a:ea typeface="Times New Roman"/>
                <a:cs typeface="Times New Roman"/>
                <a:sym typeface="Times New Roman"/>
              </a:rPr>
              <a:t>To evaluate the kernel approach, we explore a learned baseline which is of typical use in the field. </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rPr lang="en" sz="1200">
                <a:solidFill>
                  <a:schemeClr val="dk1"/>
                </a:solidFill>
                <a:latin typeface="Times New Roman"/>
                <a:ea typeface="Times New Roman"/>
                <a:cs typeface="Times New Roman"/>
                <a:sym typeface="Times New Roman"/>
              </a:rPr>
              <a:t>CNN improves over zero-filled FFT and the undersampled image but we can see that kernel choice MATTERS. Gaussian kernel achieved highest PSNR, showing that the kernel method is competitive with learned methods</a:t>
            </a:r>
            <a:endParaRPr sz="12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cf3631058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cf3631058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cffa4b3040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cffa4b3040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cffa4b3040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cffa4b3040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c7c35c9d66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c7c35c9d66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cb67594ba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cb67594ba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cb67594ba7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cb67594ba7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rPr>
              <a:t>MRI scans are expensive to operate for hospitals and uncomfortable for patients, who have to stay perfectly still while the scan is being taken. We want to minimize the amount of time that MRI takes for both patient comfort and to reduce cost of care. MRIs use the physics of water in our bodies to gather radio-frequency data that is converted to an image by an inverse Fourier transform. This data is stored in a</a:t>
            </a:r>
            <a:r>
              <a:rPr lang="en">
                <a:solidFill>
                  <a:schemeClr val="dk1"/>
                </a:solidFill>
              </a:rPr>
              <a:t> frequency space</a:t>
            </a:r>
            <a:r>
              <a:rPr lang="en">
                <a:solidFill>
                  <a:schemeClr val="dk1"/>
                </a:solidFill>
              </a:rPr>
              <a:t> that we refer to as k-space, which contains the Fourier coefficients of the MRI image. It takes a long time to measure every radio-frequency, so in practice MRI data is undersampled, meaning that only a subset of k-space values are collected and some information is missing. This means that reconstruction is an optimization problem, where we try to find an image whose Fourier transform matches the measured k-space data at the sampled locations.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cb67594ba7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cb67594ba7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cb67594ba7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3cb67594ba7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cb67594ba7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cb67594ba7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solidFill>
                  <a:schemeClr val="dk1"/>
                </a:solidFill>
                <a:latin typeface="Times New Roman"/>
                <a:ea typeface="Times New Roman"/>
                <a:cs typeface="Times New Roman"/>
                <a:sym typeface="Times New Roman"/>
              </a:rPr>
              <a:t>To evaluate the kernel approach, we explore a learned baseline </a:t>
            </a:r>
            <a:r>
              <a:rPr lang="en" sz="1200">
                <a:solidFill>
                  <a:schemeClr val="dk1"/>
                </a:solidFill>
                <a:latin typeface="Times New Roman"/>
                <a:ea typeface="Times New Roman"/>
                <a:cs typeface="Times New Roman"/>
                <a:sym typeface="Times New Roman"/>
              </a:rPr>
              <a:t>which</a:t>
            </a:r>
            <a:r>
              <a:rPr lang="en" sz="1200">
                <a:solidFill>
                  <a:schemeClr val="dk1"/>
                </a:solidFill>
                <a:latin typeface="Times New Roman"/>
                <a:ea typeface="Times New Roman"/>
                <a:cs typeface="Times New Roman"/>
                <a:sym typeface="Times New Roman"/>
              </a:rPr>
              <a:t> is of typical use in the field. </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Clr>
                <a:schemeClr val="dk1"/>
              </a:buClr>
              <a:buSzPts val="1100"/>
              <a:buFont typeface="Arial"/>
              <a:buNone/>
            </a:pPr>
            <a:r>
              <a:rPr lang="en" sz="1200">
                <a:solidFill>
                  <a:schemeClr val="dk1"/>
                </a:solidFill>
                <a:latin typeface="Times New Roman"/>
                <a:ea typeface="Times New Roman"/>
                <a:cs typeface="Times New Roman"/>
                <a:sym typeface="Times New Roman"/>
              </a:rPr>
              <a:t>CNN improves over zero-filled FFT and the undersampled image but we can see that kernel choice MATTERS. Gaussian kernel achieved highest PSNR, showing that the kernel method is competitive with learned methods</a:t>
            </a:r>
            <a:endParaRPr sz="1200">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cb67594ba7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cb67594ba7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Kernels handle local smoothness and stability. Diffusion handles anatomical realism and texture</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grpSp>
        <p:nvGrpSpPr>
          <p:cNvPr id="10" name="Google Shape;10;p2"/>
          <p:cNvGrpSpPr/>
          <p:nvPr/>
        </p:nvGrpSpPr>
        <p:grpSpPr>
          <a:xfrm>
            <a:off x="4350279" y="2855377"/>
            <a:ext cx="443589" cy="105632"/>
            <a:chOff x="4137525" y="2915950"/>
            <a:chExt cx="869100" cy="207000"/>
          </a:xfrm>
        </p:grpSpPr>
        <p:sp>
          <p:nvSpPr>
            <p:cNvPr id="11" name="Google Shape;11;p2"/>
            <p:cNvSpPr/>
            <p:nvPr/>
          </p:nvSpPr>
          <p:spPr>
            <a:xfrm>
              <a:off x="446857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47996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41375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671258" y="990800"/>
            <a:ext cx="7801500" cy="1730100"/>
          </a:xfrm>
          <a:prstGeom prst="rect">
            <a:avLst/>
          </a:prstGeom>
        </p:spPr>
        <p:txBody>
          <a:bodyPr anchorCtr="0" anchor="b" bIns="91425" lIns="91425" spcFirstLastPara="1" rIns="91425" wrap="square" tIns="91425">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5" name="Google Shape;15;p2"/>
          <p:cNvSpPr txBox="1"/>
          <p:nvPr>
            <p:ph idx="1" type="subTitle"/>
          </p:nvPr>
        </p:nvSpPr>
        <p:spPr>
          <a:xfrm>
            <a:off x="671250" y="3174876"/>
            <a:ext cx="78015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6" name="Google Shape;16;p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
          <p:cNvSpPr txBox="1"/>
          <p:nvPr>
            <p:ph type="title"/>
          </p:nvPr>
        </p:nvSpPr>
        <p:spPr>
          <a:xfrm>
            <a:off x="671250" y="2141250"/>
            <a:ext cx="7852200" cy="861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9" name="Google Shape;19;p3"/>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p7"/>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8" name="Google Shape;38;p8"/>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2" name="Google Shape;42;p9"/>
          <p:cNvSpPr txBox="1"/>
          <p:nvPr>
            <p:ph type="title"/>
          </p:nvPr>
        </p:nvSpPr>
        <p:spPr>
          <a:xfrm>
            <a:off x="265500" y="1081400"/>
            <a:ext cx="4045200" cy="1710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3" name="Google Shape;43;p9"/>
          <p:cNvSpPr txBox="1"/>
          <p:nvPr>
            <p:ph idx="1" type="subTitle"/>
          </p:nvPr>
        </p:nvSpPr>
        <p:spPr>
          <a:xfrm>
            <a:off x="265500" y="28452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dk1"/>
              </a:buClr>
              <a:buSzPts val="2100"/>
              <a:buNone/>
              <a:defRPr sz="21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5" name="Google Shape;45;p9"/>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dk1"/>
              </a:buClr>
              <a:buSzPts val="2100"/>
              <a:buFont typeface="Oswald"/>
              <a:buNone/>
              <a:defRPr sz="2100">
                <a:solidFill>
                  <a:schemeClr val="dk1"/>
                </a:solidFill>
                <a:latin typeface="Oswald"/>
                <a:ea typeface="Oswald"/>
                <a:cs typeface="Oswald"/>
                <a:sym typeface="Oswald"/>
              </a:defRPr>
            </a:lvl1pPr>
          </a:lstStyle>
          <a:p/>
        </p:txBody>
      </p:sp>
      <p:sp>
        <p:nvSpPr>
          <p:cNvPr id="48" name="Google Shape;48;p10"/>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255275"/>
            <a:ext cx="8520600" cy="18906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90250" y="468100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lat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1pPr>
            <a:lvl2pPr lvl="1">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2pPr>
            <a:lvl3pPr lvl="2">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3pPr>
            <a:lvl4pPr lvl="3">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4pPr>
            <a:lvl5pPr lvl="4">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5pPr>
            <a:lvl6pPr lvl="5">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6pPr>
            <a:lvl7pPr lvl="6">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7pPr>
            <a:lvl8pPr lvl="7">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8pPr>
            <a:lvl9pPr lvl="8">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accent3"/>
              </a:buClr>
              <a:buSzPts val="1800"/>
              <a:buFont typeface="Average"/>
              <a:buChar char="●"/>
              <a:defRPr sz="1800">
                <a:solidFill>
                  <a:schemeClr val="accent3"/>
                </a:solidFill>
                <a:latin typeface="Average"/>
                <a:ea typeface="Average"/>
                <a:cs typeface="Average"/>
                <a:sym typeface="Average"/>
              </a:defRPr>
            </a:lvl1pPr>
            <a:lvl2pPr indent="-317500" lvl="1" marL="9144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2pPr>
            <a:lvl3pPr indent="-317500" lvl="2" marL="13716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3pPr>
            <a:lvl4pPr indent="-317500" lvl="3" marL="18288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4pPr>
            <a:lvl5pPr indent="-317500" lvl="4" marL="22860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5pPr>
            <a:lvl6pPr indent="-317500" lvl="5" marL="27432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6pPr>
            <a:lvl7pPr indent="-317500" lvl="6" marL="32004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7pPr>
            <a:lvl8pPr indent="-317500" lvl="7" marL="36576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8pPr>
            <a:lvl9pPr indent="-317500" lvl="8" marL="4114800">
              <a:lnSpc>
                <a:spcPct val="115000"/>
              </a:lnSpc>
              <a:spcBef>
                <a:spcPts val="0"/>
              </a:spcBef>
              <a:spcAft>
                <a:spcPts val="0"/>
              </a:spcAft>
              <a:buClr>
                <a:schemeClr val="accent3"/>
              </a:buClr>
              <a:buSzPts val="1400"/>
              <a:buFont typeface="Average"/>
              <a:buChar char="■"/>
              <a:defRPr>
                <a:solidFill>
                  <a:schemeClr val="accent3"/>
                </a:solidFill>
                <a:latin typeface="Average"/>
                <a:ea typeface="Average"/>
                <a:cs typeface="Average"/>
                <a:sym typeface="Average"/>
              </a:defRPr>
            </a:lvl9pPr>
          </a:lstStyle>
          <a:p/>
        </p:txBody>
      </p:sp>
      <p:sp>
        <p:nvSpPr>
          <p:cNvPr id="8" name="Google Shape;8;p1"/>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3"/>
                </a:solidFill>
                <a:latin typeface="Average"/>
                <a:ea typeface="Average"/>
                <a:cs typeface="Average"/>
                <a:sym typeface="Average"/>
              </a:defRPr>
            </a:lvl1pPr>
            <a:lvl2pPr lvl="1" algn="r">
              <a:buNone/>
              <a:defRPr sz="1000">
                <a:solidFill>
                  <a:schemeClr val="accent3"/>
                </a:solidFill>
                <a:latin typeface="Average"/>
                <a:ea typeface="Average"/>
                <a:cs typeface="Average"/>
                <a:sym typeface="Average"/>
              </a:defRPr>
            </a:lvl2pPr>
            <a:lvl3pPr lvl="2" algn="r">
              <a:buNone/>
              <a:defRPr sz="1000">
                <a:solidFill>
                  <a:schemeClr val="accent3"/>
                </a:solidFill>
                <a:latin typeface="Average"/>
                <a:ea typeface="Average"/>
                <a:cs typeface="Average"/>
                <a:sym typeface="Average"/>
              </a:defRPr>
            </a:lvl3pPr>
            <a:lvl4pPr lvl="3" algn="r">
              <a:buNone/>
              <a:defRPr sz="1000">
                <a:solidFill>
                  <a:schemeClr val="accent3"/>
                </a:solidFill>
                <a:latin typeface="Average"/>
                <a:ea typeface="Average"/>
                <a:cs typeface="Average"/>
                <a:sym typeface="Average"/>
              </a:defRPr>
            </a:lvl4pPr>
            <a:lvl5pPr lvl="4" algn="r">
              <a:buNone/>
              <a:defRPr sz="1000">
                <a:solidFill>
                  <a:schemeClr val="accent3"/>
                </a:solidFill>
                <a:latin typeface="Average"/>
                <a:ea typeface="Average"/>
                <a:cs typeface="Average"/>
                <a:sym typeface="Average"/>
              </a:defRPr>
            </a:lvl5pPr>
            <a:lvl6pPr lvl="5" algn="r">
              <a:buNone/>
              <a:defRPr sz="1000">
                <a:solidFill>
                  <a:schemeClr val="accent3"/>
                </a:solidFill>
                <a:latin typeface="Average"/>
                <a:ea typeface="Average"/>
                <a:cs typeface="Average"/>
                <a:sym typeface="Average"/>
              </a:defRPr>
            </a:lvl6pPr>
            <a:lvl7pPr lvl="6" algn="r">
              <a:buNone/>
              <a:defRPr sz="1000">
                <a:solidFill>
                  <a:schemeClr val="accent3"/>
                </a:solidFill>
                <a:latin typeface="Average"/>
                <a:ea typeface="Average"/>
                <a:cs typeface="Average"/>
                <a:sym typeface="Average"/>
              </a:defRPr>
            </a:lvl7pPr>
            <a:lvl8pPr lvl="7" algn="r">
              <a:buNone/>
              <a:defRPr sz="1000">
                <a:solidFill>
                  <a:schemeClr val="accent3"/>
                </a:solidFill>
                <a:latin typeface="Average"/>
                <a:ea typeface="Average"/>
                <a:cs typeface="Average"/>
                <a:sym typeface="Average"/>
              </a:defRPr>
            </a:lvl8pPr>
            <a:lvl9pPr lvl="8" algn="r">
              <a:buNone/>
              <a:defRPr sz="1000">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7.jpg"/><Relationship Id="rId4" Type="http://schemas.openxmlformats.org/officeDocument/2006/relationships/hyperlink" Target="https://www.bravoimaging.com/mri-equipment-florida/how-an-mri-works/"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9.png"/><Relationship Id="rId4" Type="http://schemas.openxmlformats.org/officeDocument/2006/relationships/image" Target="../media/image6.png"/><Relationship Id="rId5" Type="http://schemas.openxmlformats.org/officeDocument/2006/relationships/image" Target="../media/image4.png"/><Relationship Id="rId6" Type="http://schemas.openxmlformats.org/officeDocument/2006/relationships/image" Target="../media/image11.png"/><Relationship Id="rId7"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7.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3.png"/><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671258" y="990800"/>
            <a:ext cx="7801500" cy="17301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MRI Reconstruction</a:t>
            </a:r>
            <a:endParaRPr/>
          </a:p>
        </p:txBody>
      </p:sp>
      <p:sp>
        <p:nvSpPr>
          <p:cNvPr id="60" name="Google Shape;60;p13"/>
          <p:cNvSpPr txBox="1"/>
          <p:nvPr>
            <p:ph idx="1" type="subTitle"/>
          </p:nvPr>
        </p:nvSpPr>
        <p:spPr>
          <a:xfrm>
            <a:off x="671250" y="3174876"/>
            <a:ext cx="78015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Background</a:t>
            </a:r>
            <a:endParaRPr/>
          </a:p>
        </p:txBody>
      </p:sp>
      <p:sp>
        <p:nvSpPr>
          <p:cNvPr id="66" name="Google Shape;66;p14"/>
          <p:cNvSpPr txBox="1"/>
          <p:nvPr>
            <p:ph idx="1" type="body"/>
          </p:nvPr>
        </p:nvSpPr>
        <p:spPr>
          <a:xfrm>
            <a:off x="311700" y="1152475"/>
            <a:ext cx="4768200" cy="3612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MRI machines don’t actually take pictures: they use magnets and the physical properties of water in our bodies to capture radio-frequency data. </a:t>
            </a:r>
            <a:endParaRPr/>
          </a:p>
          <a:p>
            <a:pPr indent="0" lvl="0" marL="0" rtl="0" algn="l">
              <a:spcBef>
                <a:spcPts val="1200"/>
              </a:spcBef>
              <a:spcAft>
                <a:spcPts val="0"/>
              </a:spcAft>
              <a:buNone/>
            </a:pPr>
            <a:r>
              <a:rPr lang="en"/>
              <a:t>Each radio signal is converted to a pixel in an image using a Fourier transform. </a:t>
            </a:r>
            <a:r>
              <a:rPr lang="en"/>
              <a:t>By convention, we say that the MRI stores radio-frequency data in </a:t>
            </a:r>
            <a:r>
              <a:rPr i="1" lang="en"/>
              <a:t>k-space, </a:t>
            </a:r>
            <a:r>
              <a:rPr lang="en"/>
              <a:t>before being converted to an image.</a:t>
            </a:r>
            <a:endParaRPr/>
          </a:p>
          <a:p>
            <a:pPr indent="0" lvl="0" marL="0" rtl="0" algn="l">
              <a:spcBef>
                <a:spcPts val="1200"/>
              </a:spcBef>
              <a:spcAft>
                <a:spcPts val="1200"/>
              </a:spcAft>
              <a:buNone/>
            </a:pPr>
            <a:r>
              <a:t/>
            </a:r>
            <a:endParaRPr/>
          </a:p>
        </p:txBody>
      </p:sp>
      <p:pic>
        <p:nvPicPr>
          <p:cNvPr id="67" name="Google Shape;67;p14" title="how-an-mri-works-5b2d2621325a6.jpg"/>
          <p:cNvPicPr preferRelativeResize="0"/>
          <p:nvPr/>
        </p:nvPicPr>
        <p:blipFill>
          <a:blip r:embed="rId3">
            <a:alphaModFix/>
          </a:blip>
          <a:stretch>
            <a:fillRect/>
          </a:stretch>
        </p:blipFill>
        <p:spPr>
          <a:xfrm>
            <a:off x="5079900" y="344975"/>
            <a:ext cx="3699850" cy="4453550"/>
          </a:xfrm>
          <a:prstGeom prst="rect">
            <a:avLst/>
          </a:prstGeom>
          <a:noFill/>
          <a:ln>
            <a:noFill/>
          </a:ln>
        </p:spPr>
      </p:pic>
      <p:sp>
        <p:nvSpPr>
          <p:cNvPr id="68" name="Google Shape;68;p14"/>
          <p:cNvSpPr txBox="1"/>
          <p:nvPr/>
        </p:nvSpPr>
        <p:spPr>
          <a:xfrm>
            <a:off x="5031550" y="4707375"/>
            <a:ext cx="3675300" cy="27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accent3"/>
                </a:solidFill>
                <a:latin typeface="Average"/>
                <a:ea typeface="Average"/>
                <a:cs typeface="Average"/>
                <a:sym typeface="Average"/>
              </a:rPr>
              <a:t>Source: </a:t>
            </a:r>
            <a:r>
              <a:rPr lang="en" sz="1200" u="sng">
                <a:solidFill>
                  <a:schemeClr val="hlink"/>
                </a:solidFill>
                <a:latin typeface="Average"/>
                <a:ea typeface="Average"/>
                <a:cs typeface="Average"/>
                <a:sym typeface="Average"/>
                <a:hlinkClick r:id="rId4"/>
              </a:rPr>
              <a:t>Bravo Imaging</a:t>
            </a:r>
            <a:endParaRPr sz="1200">
              <a:solidFill>
                <a:schemeClr val="accent3"/>
              </a:solidFill>
              <a:latin typeface="Average"/>
              <a:ea typeface="Average"/>
              <a:cs typeface="Average"/>
              <a:sym typeface="Average"/>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Problem</a:t>
            </a:r>
            <a:endParaRPr/>
          </a:p>
        </p:txBody>
      </p:sp>
      <p:sp>
        <p:nvSpPr>
          <p:cNvPr id="74" name="Google Shape;74;p15"/>
          <p:cNvSpPr txBox="1"/>
          <p:nvPr>
            <p:ph idx="1" type="body"/>
          </p:nvPr>
        </p:nvSpPr>
        <p:spPr>
          <a:xfrm>
            <a:off x="311700" y="1152475"/>
            <a:ext cx="41505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There are a lot of pixels in a typical MRI image, which means the machine has to send out a lot of radio-frequencies, which </a:t>
            </a:r>
            <a:r>
              <a:rPr b="1" lang="en"/>
              <a:t>takes a long time</a:t>
            </a:r>
            <a:r>
              <a:rPr lang="en"/>
              <a:t>. </a:t>
            </a:r>
            <a:r>
              <a:rPr lang="en"/>
              <a:t>This is </a:t>
            </a:r>
            <a:r>
              <a:rPr b="1" lang="en"/>
              <a:t>expensive </a:t>
            </a:r>
            <a:r>
              <a:rPr lang="en"/>
              <a:t>for hospitals operating MRI machines and </a:t>
            </a:r>
            <a:r>
              <a:rPr b="1" lang="en"/>
              <a:t>uncomfortable </a:t>
            </a:r>
            <a:r>
              <a:rPr lang="en"/>
              <a:t>for patients, who have to stay still while images are taken.</a:t>
            </a:r>
            <a:endParaRPr/>
          </a:p>
          <a:p>
            <a:pPr indent="0" lvl="0" marL="0" rtl="0" algn="l">
              <a:spcBef>
                <a:spcPts val="1200"/>
              </a:spcBef>
              <a:spcAft>
                <a:spcPts val="1200"/>
              </a:spcAft>
              <a:buNone/>
            </a:pPr>
            <a:r>
              <a:t/>
            </a:r>
            <a:endParaRPr/>
          </a:p>
        </p:txBody>
      </p:sp>
      <p:sp>
        <p:nvSpPr>
          <p:cNvPr id="75" name="Google Shape;75;p15"/>
          <p:cNvSpPr txBox="1"/>
          <p:nvPr/>
        </p:nvSpPr>
        <p:spPr>
          <a:xfrm>
            <a:off x="5041100" y="532500"/>
            <a:ext cx="3656100" cy="407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300">
                <a:solidFill>
                  <a:schemeClr val="accent3"/>
                </a:solidFill>
                <a:latin typeface="Average"/>
                <a:ea typeface="Average"/>
                <a:cs typeface="Average"/>
                <a:sym typeface="Average"/>
              </a:rPr>
              <a:t>Staying still for a long time is hard for</a:t>
            </a:r>
            <a:endParaRPr sz="2300">
              <a:solidFill>
                <a:schemeClr val="accent3"/>
              </a:solidFill>
              <a:latin typeface="Average"/>
              <a:ea typeface="Average"/>
              <a:cs typeface="Average"/>
              <a:sym typeface="Average"/>
            </a:endParaRPr>
          </a:p>
          <a:p>
            <a:pPr indent="0" lvl="0" marL="0" rtl="0" algn="l">
              <a:spcBef>
                <a:spcPts val="0"/>
              </a:spcBef>
              <a:spcAft>
                <a:spcPts val="0"/>
              </a:spcAft>
              <a:buNone/>
            </a:pPr>
            <a:r>
              <a:t/>
            </a:r>
            <a:endParaRPr sz="2300">
              <a:solidFill>
                <a:schemeClr val="accent3"/>
              </a:solidFill>
              <a:latin typeface="Average"/>
              <a:ea typeface="Average"/>
              <a:cs typeface="Average"/>
              <a:sym typeface="Average"/>
            </a:endParaRPr>
          </a:p>
          <a:p>
            <a:pPr indent="-374650" lvl="0" marL="457200" rtl="0" algn="l">
              <a:spcBef>
                <a:spcPts val="0"/>
              </a:spcBef>
              <a:spcAft>
                <a:spcPts val="0"/>
              </a:spcAft>
              <a:buClr>
                <a:schemeClr val="accent3"/>
              </a:buClr>
              <a:buSzPts val="2300"/>
              <a:buFont typeface="Average"/>
              <a:buChar char="●"/>
            </a:pPr>
            <a:r>
              <a:rPr lang="en" sz="2300">
                <a:solidFill>
                  <a:schemeClr val="accent3"/>
                </a:solidFill>
                <a:latin typeface="Average"/>
                <a:ea typeface="Average"/>
                <a:cs typeface="Average"/>
                <a:sym typeface="Average"/>
              </a:rPr>
              <a:t>Children</a:t>
            </a:r>
            <a:endParaRPr sz="2300">
              <a:solidFill>
                <a:schemeClr val="accent3"/>
              </a:solidFill>
              <a:latin typeface="Average"/>
              <a:ea typeface="Average"/>
              <a:cs typeface="Average"/>
              <a:sym typeface="Average"/>
            </a:endParaRPr>
          </a:p>
          <a:p>
            <a:pPr indent="-374650" lvl="0" marL="457200" rtl="0" algn="l">
              <a:spcBef>
                <a:spcPts val="0"/>
              </a:spcBef>
              <a:spcAft>
                <a:spcPts val="0"/>
              </a:spcAft>
              <a:buClr>
                <a:schemeClr val="accent3"/>
              </a:buClr>
              <a:buSzPts val="2300"/>
              <a:buFont typeface="Average"/>
              <a:buChar char="●"/>
            </a:pPr>
            <a:r>
              <a:rPr lang="en" sz="2300">
                <a:solidFill>
                  <a:schemeClr val="accent3"/>
                </a:solidFill>
                <a:latin typeface="Average"/>
                <a:ea typeface="Average"/>
                <a:cs typeface="Average"/>
                <a:sym typeface="Average"/>
              </a:rPr>
              <a:t>Dementia Patients</a:t>
            </a:r>
            <a:endParaRPr sz="2300">
              <a:solidFill>
                <a:schemeClr val="accent3"/>
              </a:solidFill>
              <a:latin typeface="Average"/>
              <a:ea typeface="Average"/>
              <a:cs typeface="Average"/>
              <a:sym typeface="Average"/>
            </a:endParaRPr>
          </a:p>
          <a:p>
            <a:pPr indent="-374650" lvl="0" marL="457200" rtl="0" algn="l">
              <a:spcBef>
                <a:spcPts val="0"/>
              </a:spcBef>
              <a:spcAft>
                <a:spcPts val="0"/>
              </a:spcAft>
              <a:buClr>
                <a:schemeClr val="accent3"/>
              </a:buClr>
              <a:buSzPts val="2300"/>
              <a:buFont typeface="Average"/>
              <a:buChar char="●"/>
            </a:pPr>
            <a:r>
              <a:rPr lang="en" sz="2300">
                <a:solidFill>
                  <a:schemeClr val="accent3"/>
                </a:solidFill>
                <a:latin typeface="Average"/>
                <a:ea typeface="Average"/>
                <a:cs typeface="Average"/>
                <a:sym typeface="Average"/>
              </a:rPr>
              <a:t>Patients with Huntington’s, addictions, etc.</a:t>
            </a:r>
            <a:endParaRPr sz="2300">
              <a:solidFill>
                <a:schemeClr val="accent3"/>
              </a:solidFill>
              <a:latin typeface="Average"/>
              <a:ea typeface="Average"/>
              <a:cs typeface="Average"/>
              <a:sym typeface="Average"/>
            </a:endParaRPr>
          </a:p>
          <a:p>
            <a:pPr indent="0" lvl="0" marL="0" rtl="0" algn="l">
              <a:spcBef>
                <a:spcPts val="0"/>
              </a:spcBef>
              <a:spcAft>
                <a:spcPts val="0"/>
              </a:spcAft>
              <a:buNone/>
            </a:pPr>
            <a:r>
              <a:t/>
            </a:r>
            <a:endParaRPr sz="2300">
              <a:solidFill>
                <a:schemeClr val="accent3"/>
              </a:solidFill>
              <a:latin typeface="Average"/>
              <a:ea typeface="Average"/>
              <a:cs typeface="Average"/>
              <a:sym typeface="Average"/>
            </a:endParaRPr>
          </a:p>
          <a:p>
            <a:pPr indent="0" lvl="0" marL="0" rtl="0" algn="l">
              <a:spcBef>
                <a:spcPts val="0"/>
              </a:spcBef>
              <a:spcAft>
                <a:spcPts val="0"/>
              </a:spcAft>
              <a:buNone/>
            </a:pPr>
            <a:r>
              <a:rPr lang="en" sz="2300">
                <a:solidFill>
                  <a:schemeClr val="accent3"/>
                </a:solidFill>
                <a:latin typeface="Average"/>
                <a:ea typeface="Average"/>
                <a:cs typeface="Average"/>
                <a:sym typeface="Average"/>
              </a:rPr>
              <a:t>Shorter scan times = more accessible treatment</a:t>
            </a:r>
            <a:endParaRPr sz="2300">
              <a:solidFill>
                <a:schemeClr val="accent3"/>
              </a:solidFill>
              <a:latin typeface="Average"/>
              <a:ea typeface="Average"/>
              <a:cs typeface="Average"/>
              <a:sym typeface="Average"/>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Potential Solution</a:t>
            </a:r>
            <a:endParaRPr/>
          </a:p>
        </p:txBody>
      </p:sp>
      <p:sp>
        <p:nvSpPr>
          <p:cNvPr id="81" name="Google Shape;81;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100"/>
              <a:t>What if, instead of measuring every value in k-space, we only directly measured a subset of them?</a:t>
            </a:r>
            <a:endParaRPr sz="2100"/>
          </a:p>
          <a:p>
            <a:pPr indent="-361950" lvl="0" marL="457200" rtl="0" algn="l">
              <a:spcBef>
                <a:spcPts val="1200"/>
              </a:spcBef>
              <a:spcAft>
                <a:spcPts val="0"/>
              </a:spcAft>
              <a:buSzPts val="2100"/>
              <a:buChar char="●"/>
            </a:pPr>
            <a:r>
              <a:rPr lang="en" sz="2100"/>
              <a:t>Quicker scans, but more blurry images</a:t>
            </a:r>
            <a:endParaRPr sz="2100"/>
          </a:p>
          <a:p>
            <a:pPr indent="0" lvl="0" marL="0" rtl="0" algn="l">
              <a:spcBef>
                <a:spcPts val="1200"/>
              </a:spcBef>
              <a:spcAft>
                <a:spcPts val="0"/>
              </a:spcAft>
              <a:buNone/>
            </a:pPr>
            <a:r>
              <a:rPr lang="en" sz="2100"/>
              <a:t>Can we can </a:t>
            </a:r>
            <a:r>
              <a:rPr b="1" lang="en" sz="2100"/>
              <a:t>reconstruct</a:t>
            </a:r>
            <a:r>
              <a:rPr lang="en" sz="2100"/>
              <a:t> a partially formed MRI image using optimization?</a:t>
            </a:r>
            <a:endParaRPr sz="2100"/>
          </a:p>
          <a:p>
            <a:pPr indent="-361950" lvl="0" marL="457200" rtl="0" algn="l">
              <a:spcBef>
                <a:spcPts val="1200"/>
              </a:spcBef>
              <a:spcAft>
                <a:spcPts val="0"/>
              </a:spcAft>
              <a:buSzPts val="2100"/>
              <a:buChar char="●"/>
            </a:pPr>
            <a:r>
              <a:rPr lang="en" sz="2100"/>
              <a:t>Quick scans with more detailed images</a:t>
            </a:r>
            <a:endParaRPr sz="21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CCCC"/>
        </a:solidFill>
      </p:bgPr>
    </p:bg>
    <p:spTree>
      <p:nvGrpSpPr>
        <p:cNvPr id="85" name="Shape 85"/>
        <p:cNvGrpSpPr/>
        <p:nvPr/>
      </p:nvGrpSpPr>
      <p:grpSpPr>
        <a:xfrm>
          <a:off x="0" y="0"/>
          <a:ext cx="0" cy="0"/>
          <a:chOff x="0" y="0"/>
          <a:chExt cx="0" cy="0"/>
        </a:xfrm>
      </p:grpSpPr>
      <p:sp>
        <p:nvSpPr>
          <p:cNvPr id="86" name="Google Shape;86;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666666"/>
                </a:solidFill>
              </a:rPr>
              <a:t>Mathematics</a:t>
            </a:r>
            <a:endParaRPr>
              <a:solidFill>
                <a:srgbClr val="666666"/>
              </a:solidFill>
            </a:endParaRPr>
          </a:p>
        </p:txBody>
      </p:sp>
      <p:sp>
        <p:nvSpPr>
          <p:cNvPr id="87" name="Google Shape;87;p17"/>
          <p:cNvSpPr txBox="1"/>
          <p:nvPr>
            <p:ph idx="1" type="body"/>
          </p:nvPr>
        </p:nvSpPr>
        <p:spPr>
          <a:xfrm>
            <a:off x="311700" y="1017725"/>
            <a:ext cx="8559600" cy="385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rgbClr val="434343"/>
                </a:solidFill>
              </a:rPr>
              <a:t>A = MF</a:t>
            </a:r>
            <a:endParaRPr>
              <a:solidFill>
                <a:srgbClr val="434343"/>
              </a:solidFill>
            </a:endParaRPr>
          </a:p>
          <a:p>
            <a:pPr indent="-342900" lvl="0" marL="457200" rtl="0" algn="l">
              <a:spcBef>
                <a:spcPts val="1200"/>
              </a:spcBef>
              <a:spcAft>
                <a:spcPts val="0"/>
              </a:spcAft>
              <a:buClr>
                <a:srgbClr val="434343"/>
              </a:buClr>
              <a:buSzPts val="1800"/>
              <a:buChar char="●"/>
            </a:pPr>
            <a:r>
              <a:rPr lang="en">
                <a:solidFill>
                  <a:srgbClr val="434343"/>
                </a:solidFill>
              </a:rPr>
              <a:t>M = Diagonal Matrix (entries are 1 if </a:t>
            </a:r>
            <a:r>
              <a:rPr lang="en">
                <a:solidFill>
                  <a:srgbClr val="434343"/>
                </a:solidFill>
              </a:rPr>
              <a:t>frequency is being measured, 0 if not)</a:t>
            </a:r>
            <a:endParaRPr>
              <a:solidFill>
                <a:srgbClr val="434343"/>
              </a:solidFill>
            </a:endParaRPr>
          </a:p>
          <a:p>
            <a:pPr indent="-342900" lvl="0" marL="457200" rtl="0" algn="l">
              <a:spcBef>
                <a:spcPts val="0"/>
              </a:spcBef>
              <a:spcAft>
                <a:spcPts val="0"/>
              </a:spcAft>
              <a:buClr>
                <a:srgbClr val="434343"/>
              </a:buClr>
              <a:buSzPts val="1800"/>
              <a:buChar char="●"/>
            </a:pPr>
            <a:r>
              <a:rPr lang="en">
                <a:solidFill>
                  <a:srgbClr val="434343"/>
                </a:solidFill>
              </a:rPr>
              <a:t>F = Discrete Fourier Transform</a:t>
            </a:r>
            <a:endParaRPr>
              <a:solidFill>
                <a:srgbClr val="434343"/>
              </a:solidFill>
            </a:endParaRPr>
          </a:p>
          <a:p>
            <a:pPr indent="0" lvl="0" marL="0" rtl="0" algn="l">
              <a:spcBef>
                <a:spcPts val="1200"/>
              </a:spcBef>
              <a:spcAft>
                <a:spcPts val="0"/>
              </a:spcAft>
              <a:buNone/>
            </a:pPr>
            <a:r>
              <a:rPr lang="en">
                <a:solidFill>
                  <a:srgbClr val="434343"/>
                </a:solidFill>
              </a:rPr>
              <a:t>Given observed undersampled k-space data </a:t>
            </a:r>
            <a:r>
              <a:rPr i="1" lang="en">
                <a:solidFill>
                  <a:srgbClr val="434343"/>
                </a:solidFill>
              </a:rPr>
              <a:t>y_obs,</a:t>
            </a:r>
            <a:r>
              <a:rPr lang="en">
                <a:solidFill>
                  <a:srgbClr val="434343"/>
                </a:solidFill>
              </a:rPr>
              <a:t> we are looking for $\alpha$ that solves</a:t>
            </a:r>
            <a:endParaRPr>
              <a:solidFill>
                <a:srgbClr val="434343"/>
              </a:solidFill>
            </a:endParaRPr>
          </a:p>
          <a:p>
            <a:pPr indent="0" lvl="0" marL="0" rtl="0" algn="l">
              <a:spcBef>
                <a:spcPts val="1200"/>
              </a:spcBef>
              <a:spcAft>
                <a:spcPts val="0"/>
              </a:spcAft>
              <a:buNone/>
            </a:pPr>
            <a:r>
              <a:t/>
            </a:r>
            <a:endParaRPr>
              <a:solidFill>
                <a:srgbClr val="434343"/>
              </a:solidFill>
            </a:endParaRPr>
          </a:p>
          <a:p>
            <a:pPr indent="0" lvl="0" marL="0" rtl="0" algn="l">
              <a:spcBef>
                <a:spcPts val="1200"/>
              </a:spcBef>
              <a:spcAft>
                <a:spcPts val="0"/>
              </a:spcAft>
              <a:buNone/>
            </a:pPr>
            <a:r>
              <a:t/>
            </a:r>
            <a:endParaRPr>
              <a:solidFill>
                <a:srgbClr val="434343"/>
              </a:solidFill>
            </a:endParaRPr>
          </a:p>
          <a:p>
            <a:pPr indent="0" lvl="0" marL="0" rtl="0" algn="l">
              <a:spcBef>
                <a:spcPts val="1200"/>
              </a:spcBef>
              <a:spcAft>
                <a:spcPts val="1200"/>
              </a:spcAft>
              <a:buNone/>
            </a:pPr>
            <a:r>
              <a:rPr lang="en">
                <a:solidFill>
                  <a:srgbClr val="434343"/>
                </a:solidFill>
              </a:rPr>
              <a:t>There are many possible solutions, so we restrict the reconstruction to a class of kernel basis functions for uniqueness. We use </a:t>
            </a:r>
            <a:r>
              <a:rPr b="1" lang="en">
                <a:solidFill>
                  <a:srgbClr val="434343"/>
                </a:solidFill>
              </a:rPr>
              <a:t>Gaussian kernels</a:t>
            </a:r>
            <a:r>
              <a:rPr lang="en">
                <a:solidFill>
                  <a:srgbClr val="434343"/>
                </a:solidFill>
              </a:rPr>
              <a:t> to impose smoothness.</a:t>
            </a:r>
            <a:endParaRPr>
              <a:solidFill>
                <a:srgbClr val="434343"/>
              </a:solidFill>
            </a:endParaRPr>
          </a:p>
        </p:txBody>
      </p:sp>
      <p:pic>
        <p:nvPicPr>
          <p:cNvPr id="88" name="Google Shape;88;p17"/>
          <p:cNvPicPr preferRelativeResize="0"/>
          <p:nvPr/>
        </p:nvPicPr>
        <p:blipFill>
          <a:blip r:embed="rId3">
            <a:alphaModFix/>
          </a:blip>
          <a:stretch>
            <a:fillRect/>
          </a:stretch>
        </p:blipFill>
        <p:spPr>
          <a:xfrm>
            <a:off x="2478075" y="3047425"/>
            <a:ext cx="3555513" cy="5727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Implementation</a:t>
            </a:r>
            <a:endParaRPr/>
          </a:p>
        </p:txBody>
      </p:sp>
      <p:sp>
        <p:nvSpPr>
          <p:cNvPr id="94" name="Google Shape;94;p18"/>
          <p:cNvSpPr txBox="1"/>
          <p:nvPr>
            <p:ph idx="1" type="body"/>
          </p:nvPr>
        </p:nvSpPr>
        <p:spPr>
          <a:xfrm>
            <a:off x="408200" y="1171775"/>
            <a:ext cx="6591900" cy="3416400"/>
          </a:xfrm>
          <a:prstGeom prst="rect">
            <a:avLst/>
          </a:prstGeom>
        </p:spPr>
        <p:txBody>
          <a:bodyPr anchorCtr="0" anchor="t" bIns="91425" lIns="91425" spcFirstLastPara="1" rIns="91425" wrap="square" tIns="91425">
            <a:normAutofit lnSpcReduction="10000"/>
          </a:bodyPr>
          <a:lstStyle/>
          <a:p>
            <a:pPr indent="-355600" lvl="0" marL="457200" rtl="0" algn="l">
              <a:spcBef>
                <a:spcPts val="0"/>
              </a:spcBef>
              <a:spcAft>
                <a:spcPts val="0"/>
              </a:spcAft>
              <a:buSzPts val="2000"/>
              <a:buChar char="●"/>
            </a:pPr>
            <a:r>
              <a:rPr b="1" lang="en" sz="2000"/>
              <a:t>Data</a:t>
            </a:r>
            <a:r>
              <a:rPr lang="en" sz="2000"/>
              <a:t>: </a:t>
            </a:r>
            <a:r>
              <a:rPr lang="en" sz="2000"/>
              <a:t>UPenn-GBM Cancer Imaging Archive. Selected target image.</a:t>
            </a:r>
            <a:endParaRPr sz="2000"/>
          </a:p>
          <a:p>
            <a:pPr indent="-330200" lvl="1" marL="914400" rtl="0" algn="l">
              <a:spcBef>
                <a:spcPts val="0"/>
              </a:spcBef>
              <a:spcAft>
                <a:spcPts val="0"/>
              </a:spcAft>
              <a:buSzPts val="1600"/>
              <a:buChar char="○"/>
            </a:pPr>
            <a:r>
              <a:rPr lang="en" sz="1600"/>
              <a:t>Create kernel basis &amp; lots of data preparation</a:t>
            </a:r>
            <a:endParaRPr sz="1600"/>
          </a:p>
          <a:p>
            <a:pPr indent="-355600" lvl="0" marL="457200" rtl="0" algn="l">
              <a:spcBef>
                <a:spcPts val="0"/>
              </a:spcBef>
              <a:spcAft>
                <a:spcPts val="0"/>
              </a:spcAft>
              <a:buSzPts val="2000"/>
              <a:buChar char="●"/>
            </a:pPr>
            <a:r>
              <a:rPr b="1" lang="en" sz="2000"/>
              <a:t>Simulate </a:t>
            </a:r>
            <a:r>
              <a:rPr lang="en" sz="2000"/>
              <a:t>the under-sampling of frequencies: ‘masking’ the data by adding a filter to only show low-frequency waves. </a:t>
            </a:r>
            <a:endParaRPr sz="2000"/>
          </a:p>
          <a:p>
            <a:pPr indent="-355600" lvl="0" marL="457200" rtl="0" algn="l">
              <a:spcBef>
                <a:spcPts val="0"/>
              </a:spcBef>
              <a:spcAft>
                <a:spcPts val="0"/>
              </a:spcAft>
              <a:buSzPts val="2000"/>
              <a:buChar char="●"/>
            </a:pPr>
            <a:r>
              <a:rPr b="1" lang="en" sz="2000"/>
              <a:t>Solve</a:t>
            </a:r>
            <a:r>
              <a:rPr lang="en" sz="2000"/>
              <a:t>: Using an Adam (Adaptive Moment Estimation) optimizer.</a:t>
            </a:r>
            <a:endParaRPr sz="2000"/>
          </a:p>
          <a:p>
            <a:pPr indent="-355600" lvl="0" marL="457200" rtl="0" algn="l">
              <a:spcBef>
                <a:spcPts val="0"/>
              </a:spcBef>
              <a:spcAft>
                <a:spcPts val="0"/>
              </a:spcAft>
              <a:buSzPts val="2000"/>
              <a:buChar char="●"/>
            </a:pPr>
            <a:r>
              <a:rPr b="1" lang="en" sz="2000"/>
              <a:t>Validate</a:t>
            </a:r>
            <a:r>
              <a:rPr lang="en" sz="2000"/>
              <a:t>: (1) compare reconstructed image to original MRI target image and (2) measure loss over iterations.</a:t>
            </a:r>
            <a:endParaRPr sz="20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Results</a:t>
            </a:r>
            <a:endParaRPr/>
          </a:p>
        </p:txBody>
      </p:sp>
      <p:sp>
        <p:nvSpPr>
          <p:cNvPr id="100" name="Google Shape;100;p19"/>
          <p:cNvSpPr txBox="1"/>
          <p:nvPr>
            <p:ph idx="1" type="body"/>
          </p:nvPr>
        </p:nvSpPr>
        <p:spPr>
          <a:xfrm>
            <a:off x="6667325" y="1152475"/>
            <a:ext cx="21651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Pro:</a:t>
            </a:r>
            <a:endParaRPr/>
          </a:p>
          <a:p>
            <a:pPr indent="-342900" lvl="0" marL="457200" rtl="0" algn="l">
              <a:spcBef>
                <a:spcPts val="1200"/>
              </a:spcBef>
              <a:spcAft>
                <a:spcPts val="0"/>
              </a:spcAft>
              <a:buSzPts val="1800"/>
              <a:buChar char="●"/>
            </a:pPr>
            <a:r>
              <a:rPr lang="en"/>
              <a:t>Working prototype w/real data</a:t>
            </a:r>
            <a:endParaRPr/>
          </a:p>
          <a:p>
            <a:pPr indent="0" lvl="0" marL="0" rtl="0" algn="l">
              <a:spcBef>
                <a:spcPts val="1200"/>
              </a:spcBef>
              <a:spcAft>
                <a:spcPts val="0"/>
              </a:spcAft>
              <a:buNone/>
            </a:pPr>
            <a:r>
              <a:rPr lang="en"/>
              <a:t>Con:</a:t>
            </a:r>
            <a:endParaRPr/>
          </a:p>
          <a:p>
            <a:pPr indent="-342900" lvl="0" marL="457200" rtl="0" algn="l">
              <a:spcBef>
                <a:spcPts val="1200"/>
              </a:spcBef>
              <a:spcAft>
                <a:spcPts val="0"/>
              </a:spcAft>
              <a:buSzPts val="1800"/>
              <a:buChar char="●"/>
            </a:pPr>
            <a:r>
              <a:rPr lang="en"/>
              <a:t>Blurry image</a:t>
            </a:r>
            <a:endParaRPr/>
          </a:p>
          <a:p>
            <a:pPr indent="-342900" lvl="0" marL="457200" rtl="0" algn="l">
              <a:spcBef>
                <a:spcPts val="0"/>
              </a:spcBef>
              <a:spcAft>
                <a:spcPts val="0"/>
              </a:spcAft>
              <a:buSzPts val="1800"/>
              <a:buChar char="●"/>
            </a:pPr>
            <a:r>
              <a:rPr lang="en"/>
              <a:t>No frame of reference for accuracy</a:t>
            </a:r>
            <a:endParaRPr/>
          </a:p>
        </p:txBody>
      </p:sp>
      <p:pic>
        <p:nvPicPr>
          <p:cNvPr id="101" name="Google Shape;101;p19"/>
          <p:cNvPicPr preferRelativeResize="0"/>
          <p:nvPr/>
        </p:nvPicPr>
        <p:blipFill>
          <a:blip r:embed="rId3">
            <a:alphaModFix/>
          </a:blip>
          <a:stretch>
            <a:fillRect/>
          </a:stretch>
        </p:blipFill>
        <p:spPr>
          <a:xfrm>
            <a:off x="311700" y="1219275"/>
            <a:ext cx="6355625" cy="31503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0"/>
          <p:cNvSpPr txBox="1"/>
          <p:nvPr>
            <p:ph type="title"/>
          </p:nvPr>
        </p:nvSpPr>
        <p:spPr>
          <a:xfrm>
            <a:off x="246150" y="2479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Comparing</a:t>
            </a:r>
            <a:r>
              <a:rPr lang="en"/>
              <a:t> Kernels vs. Baseline Reconstruction</a:t>
            </a:r>
            <a:endParaRPr/>
          </a:p>
        </p:txBody>
      </p:sp>
      <p:sp>
        <p:nvSpPr>
          <p:cNvPr id="107" name="Google Shape;107;p20"/>
          <p:cNvSpPr txBox="1"/>
          <p:nvPr>
            <p:ph idx="1" type="body"/>
          </p:nvPr>
        </p:nvSpPr>
        <p:spPr>
          <a:xfrm>
            <a:off x="1583550" y="4443050"/>
            <a:ext cx="5845800" cy="572700"/>
          </a:xfrm>
          <a:prstGeom prst="rect">
            <a:avLst/>
          </a:prstGeom>
          <a:ln cap="flat" cmpd="sng" w="9525">
            <a:solidFill>
              <a:schemeClr val="dk2"/>
            </a:solidFill>
            <a:prstDash val="solid"/>
            <a:round/>
            <a:headEnd len="sm" w="sm" type="none"/>
            <a:tailEnd len="sm" w="sm" type="none"/>
          </a:ln>
        </p:spPr>
        <p:txBody>
          <a:bodyPr anchorCtr="0" anchor="t" bIns="91425" lIns="91425" spcFirstLastPara="1" rIns="91425" wrap="square" tIns="91425">
            <a:normAutofit/>
          </a:bodyPr>
          <a:lstStyle/>
          <a:p>
            <a:pPr indent="0" lvl="0" marL="0" rtl="0" algn="ctr">
              <a:spcBef>
                <a:spcPts val="0"/>
              </a:spcBef>
              <a:spcAft>
                <a:spcPts val="1200"/>
              </a:spcAft>
              <a:buNone/>
            </a:pPr>
            <a:r>
              <a:rPr lang="en"/>
              <a:t>Gaussian kernel reconstruction provides highest clarity.</a:t>
            </a:r>
            <a:endParaRPr/>
          </a:p>
        </p:txBody>
      </p:sp>
      <p:graphicFrame>
        <p:nvGraphicFramePr>
          <p:cNvPr id="108" name="Google Shape;108;p20"/>
          <p:cNvGraphicFramePr/>
          <p:nvPr/>
        </p:nvGraphicFramePr>
        <p:xfrm>
          <a:off x="234250" y="825313"/>
          <a:ext cx="3000000" cy="3000000"/>
        </p:xfrm>
        <a:graphic>
          <a:graphicData uri="http://schemas.openxmlformats.org/drawingml/2006/table">
            <a:tbl>
              <a:tblPr>
                <a:noFill/>
                <a:tableStyleId>{099C4B19-8DFC-4C2B-A7D9-31AAD03009BB}</a:tableStyleId>
              </a:tblPr>
              <a:tblGrid>
                <a:gridCol w="2168875"/>
                <a:gridCol w="2168875"/>
                <a:gridCol w="2168875"/>
                <a:gridCol w="2168875"/>
              </a:tblGrid>
              <a:tr h="369825">
                <a:tc>
                  <a:txBody>
                    <a:bodyPr/>
                    <a:lstStyle/>
                    <a:p>
                      <a:pPr indent="0" lvl="0" marL="0" rtl="0" algn="l">
                        <a:spcBef>
                          <a:spcPts val="0"/>
                        </a:spcBef>
                        <a:spcAft>
                          <a:spcPts val="0"/>
                        </a:spcAft>
                        <a:buNone/>
                      </a:pPr>
                      <a:r>
                        <a:rPr i="1" lang="en" sz="1600">
                          <a:solidFill>
                            <a:schemeClr val="dk1"/>
                          </a:solidFill>
                          <a:latin typeface="Oswald Light"/>
                          <a:ea typeface="Oswald Light"/>
                          <a:cs typeface="Oswald Light"/>
                          <a:sym typeface="Oswald Light"/>
                        </a:rPr>
                        <a:t>Metric</a:t>
                      </a:r>
                      <a:endParaRPr i="1" sz="1600">
                        <a:solidFill>
                          <a:schemeClr val="dk1"/>
                        </a:solidFill>
                        <a:latin typeface="Oswald Light"/>
                        <a:ea typeface="Oswald Light"/>
                        <a:cs typeface="Oswald Light"/>
                        <a:sym typeface="Oswald Light"/>
                      </a:endParaRPr>
                    </a:p>
                  </a:txBody>
                  <a:tcPr marT="91425" marB="91425" marR="91425" marL="91425">
                    <a:solidFill>
                      <a:schemeClr val="accent2"/>
                    </a:solidFill>
                  </a:tcPr>
                </a:tc>
                <a:tc>
                  <a:txBody>
                    <a:bodyPr/>
                    <a:lstStyle/>
                    <a:p>
                      <a:pPr indent="0" lvl="0" marL="0" rtl="0" algn="l">
                        <a:spcBef>
                          <a:spcPts val="0"/>
                        </a:spcBef>
                        <a:spcAft>
                          <a:spcPts val="0"/>
                        </a:spcAft>
                        <a:buNone/>
                      </a:pPr>
                      <a:r>
                        <a:rPr i="1" lang="en" sz="1600">
                          <a:solidFill>
                            <a:schemeClr val="dk1"/>
                          </a:solidFill>
                          <a:latin typeface="Oswald Light"/>
                          <a:ea typeface="Oswald Light"/>
                          <a:cs typeface="Oswald Light"/>
                          <a:sym typeface="Oswald Light"/>
                        </a:rPr>
                        <a:t>LaPlacian Kernels</a:t>
                      </a:r>
                      <a:endParaRPr i="1" sz="1600">
                        <a:solidFill>
                          <a:schemeClr val="dk1"/>
                        </a:solidFill>
                        <a:latin typeface="Oswald Light"/>
                        <a:ea typeface="Oswald Light"/>
                        <a:cs typeface="Oswald Light"/>
                        <a:sym typeface="Oswald Light"/>
                      </a:endParaRPr>
                    </a:p>
                  </a:txBody>
                  <a:tcPr marT="91425" marB="91425" marR="91425" marL="91425">
                    <a:solidFill>
                      <a:schemeClr val="accent2"/>
                    </a:solidFill>
                  </a:tcPr>
                </a:tc>
                <a:tc>
                  <a:txBody>
                    <a:bodyPr/>
                    <a:lstStyle/>
                    <a:p>
                      <a:pPr indent="0" lvl="0" marL="0" rtl="0" algn="l">
                        <a:spcBef>
                          <a:spcPts val="0"/>
                        </a:spcBef>
                        <a:spcAft>
                          <a:spcPts val="0"/>
                        </a:spcAft>
                        <a:buNone/>
                      </a:pPr>
                      <a:r>
                        <a:rPr i="1" lang="en" sz="1600">
                          <a:solidFill>
                            <a:schemeClr val="dk1"/>
                          </a:solidFill>
                          <a:latin typeface="Oswald Light"/>
                          <a:ea typeface="Oswald Light"/>
                          <a:cs typeface="Oswald Light"/>
                          <a:sym typeface="Oswald Light"/>
                        </a:rPr>
                        <a:t>Gaussian Kernels</a:t>
                      </a:r>
                      <a:endParaRPr i="1" sz="1600">
                        <a:solidFill>
                          <a:schemeClr val="dk1"/>
                        </a:solidFill>
                        <a:latin typeface="Oswald Light"/>
                        <a:ea typeface="Oswald Light"/>
                        <a:cs typeface="Oswald Light"/>
                        <a:sym typeface="Oswald Light"/>
                      </a:endParaRPr>
                    </a:p>
                  </a:txBody>
                  <a:tcPr marT="91425" marB="91425" marR="91425" marL="91425">
                    <a:solidFill>
                      <a:schemeClr val="accent2"/>
                    </a:solidFill>
                  </a:tcPr>
                </a:tc>
                <a:tc>
                  <a:txBody>
                    <a:bodyPr/>
                    <a:lstStyle/>
                    <a:p>
                      <a:pPr indent="0" lvl="0" marL="0" rtl="0" algn="l">
                        <a:spcBef>
                          <a:spcPts val="0"/>
                        </a:spcBef>
                        <a:spcAft>
                          <a:spcPts val="0"/>
                        </a:spcAft>
                        <a:buNone/>
                      </a:pPr>
                      <a:r>
                        <a:rPr i="1" lang="en" sz="1600">
                          <a:solidFill>
                            <a:schemeClr val="dk1"/>
                          </a:solidFill>
                          <a:latin typeface="Oswald Light"/>
                          <a:ea typeface="Oswald Light"/>
                          <a:cs typeface="Oswald Light"/>
                          <a:sym typeface="Oswald Light"/>
                        </a:rPr>
                        <a:t>Zero-Filled FFT</a:t>
                      </a:r>
                      <a:endParaRPr i="1" sz="1600">
                        <a:solidFill>
                          <a:schemeClr val="dk1"/>
                        </a:solidFill>
                        <a:latin typeface="Oswald Light"/>
                        <a:ea typeface="Oswald Light"/>
                        <a:cs typeface="Oswald Light"/>
                        <a:sym typeface="Oswald Light"/>
                      </a:endParaRPr>
                    </a:p>
                  </a:txBody>
                  <a:tcPr marT="91425" marB="91425" marR="91425" marL="91425">
                    <a:solidFill>
                      <a:schemeClr val="accent2"/>
                    </a:solidFill>
                  </a:tcPr>
                </a:tc>
              </a:tr>
              <a:tr h="369825">
                <a:tc>
                  <a:txBody>
                    <a:bodyPr/>
                    <a:lstStyle/>
                    <a:p>
                      <a:pPr indent="0" lvl="0" marL="0" rtl="0" algn="l">
                        <a:spcBef>
                          <a:spcPts val="0"/>
                        </a:spcBef>
                        <a:spcAft>
                          <a:spcPts val="0"/>
                        </a:spcAft>
                        <a:buNone/>
                      </a:pPr>
                      <a:r>
                        <a:rPr i="1" lang="en" sz="1600">
                          <a:solidFill>
                            <a:schemeClr val="dk1"/>
                          </a:solidFill>
                          <a:latin typeface="Oswald Light"/>
                          <a:ea typeface="Oswald Light"/>
                          <a:cs typeface="Oswald Light"/>
                          <a:sym typeface="Oswald Light"/>
                        </a:rPr>
                        <a:t>MSE</a:t>
                      </a:r>
                      <a:endParaRPr i="1" sz="1600">
                        <a:solidFill>
                          <a:schemeClr val="dk1"/>
                        </a:solidFill>
                        <a:latin typeface="Oswald Light"/>
                        <a:ea typeface="Oswald Light"/>
                        <a:cs typeface="Oswald Light"/>
                        <a:sym typeface="Oswald Light"/>
                      </a:endParaRPr>
                    </a:p>
                  </a:txBody>
                  <a:tcPr marT="91425" marB="91425" marR="91425" marL="91425"/>
                </a:tc>
                <a:tc>
                  <a:txBody>
                    <a:bodyPr/>
                    <a:lstStyle/>
                    <a:p>
                      <a:pPr indent="0" lvl="0" marL="0" rtl="0" algn="l">
                        <a:spcBef>
                          <a:spcPts val="0"/>
                        </a:spcBef>
                        <a:spcAft>
                          <a:spcPts val="0"/>
                        </a:spcAft>
                        <a:buNone/>
                      </a:pPr>
                      <a:r>
                        <a:rPr lang="en" sz="1600">
                          <a:solidFill>
                            <a:schemeClr val="dk1"/>
                          </a:solidFill>
                          <a:latin typeface="Oswald Light"/>
                          <a:ea typeface="Oswald Light"/>
                          <a:cs typeface="Oswald Light"/>
                          <a:sym typeface="Oswald Light"/>
                        </a:rPr>
                        <a:t>0.0186</a:t>
                      </a:r>
                      <a:endParaRPr sz="1600">
                        <a:solidFill>
                          <a:schemeClr val="dk1"/>
                        </a:solidFill>
                        <a:latin typeface="Oswald Light"/>
                        <a:ea typeface="Oswald Light"/>
                        <a:cs typeface="Oswald Light"/>
                        <a:sym typeface="Oswald Light"/>
                      </a:endParaRPr>
                    </a:p>
                  </a:txBody>
                  <a:tcPr marT="91425" marB="91425" marR="91425" marL="91425"/>
                </a:tc>
                <a:tc>
                  <a:txBody>
                    <a:bodyPr/>
                    <a:lstStyle/>
                    <a:p>
                      <a:pPr indent="0" lvl="0" marL="0" rtl="0" algn="l">
                        <a:spcBef>
                          <a:spcPts val="0"/>
                        </a:spcBef>
                        <a:spcAft>
                          <a:spcPts val="0"/>
                        </a:spcAft>
                        <a:buNone/>
                      </a:pPr>
                      <a:r>
                        <a:rPr lang="en" sz="1600">
                          <a:solidFill>
                            <a:schemeClr val="dk1"/>
                          </a:solidFill>
                          <a:latin typeface="Oswald Light"/>
                          <a:ea typeface="Oswald Light"/>
                          <a:cs typeface="Oswald Light"/>
                          <a:sym typeface="Oswald Light"/>
                        </a:rPr>
                        <a:t>0.00529</a:t>
                      </a:r>
                      <a:endParaRPr sz="1600">
                        <a:solidFill>
                          <a:schemeClr val="dk1"/>
                        </a:solidFill>
                        <a:latin typeface="Oswald Light"/>
                        <a:ea typeface="Oswald Light"/>
                        <a:cs typeface="Oswald Light"/>
                        <a:sym typeface="Oswald Light"/>
                      </a:endParaRPr>
                    </a:p>
                  </a:txBody>
                  <a:tcPr marT="91425" marB="91425" marR="91425" marL="91425"/>
                </a:tc>
                <a:tc>
                  <a:txBody>
                    <a:bodyPr/>
                    <a:lstStyle/>
                    <a:p>
                      <a:pPr indent="0" lvl="0" marL="0" rtl="0" algn="l">
                        <a:lnSpc>
                          <a:spcPct val="115000"/>
                        </a:lnSpc>
                        <a:spcBef>
                          <a:spcPts val="0"/>
                        </a:spcBef>
                        <a:spcAft>
                          <a:spcPts val="1200"/>
                        </a:spcAft>
                        <a:buNone/>
                      </a:pPr>
                      <a:r>
                        <a:rPr lang="en" sz="1600">
                          <a:solidFill>
                            <a:schemeClr val="dk1"/>
                          </a:solidFill>
                          <a:latin typeface="Oswald Light"/>
                          <a:ea typeface="Oswald Light"/>
                          <a:cs typeface="Oswald Light"/>
                          <a:sym typeface="Oswald Light"/>
                        </a:rPr>
                        <a:t>0.010049</a:t>
                      </a:r>
                      <a:endParaRPr sz="1600">
                        <a:solidFill>
                          <a:schemeClr val="dk1"/>
                        </a:solidFill>
                        <a:latin typeface="Oswald Light"/>
                        <a:ea typeface="Oswald Light"/>
                        <a:cs typeface="Oswald Light"/>
                        <a:sym typeface="Oswald Light"/>
                      </a:endParaRPr>
                    </a:p>
                  </a:txBody>
                  <a:tcPr marT="91425" marB="91425" marR="91425" marL="91425"/>
                </a:tc>
              </a:tr>
              <a:tr h="369825">
                <a:tc>
                  <a:txBody>
                    <a:bodyPr/>
                    <a:lstStyle/>
                    <a:p>
                      <a:pPr indent="0" lvl="0" marL="0" rtl="0" algn="l">
                        <a:spcBef>
                          <a:spcPts val="0"/>
                        </a:spcBef>
                        <a:spcAft>
                          <a:spcPts val="0"/>
                        </a:spcAft>
                        <a:buNone/>
                      </a:pPr>
                      <a:r>
                        <a:rPr i="1" lang="en" sz="1600">
                          <a:solidFill>
                            <a:schemeClr val="dk1"/>
                          </a:solidFill>
                          <a:latin typeface="Oswald Light"/>
                          <a:ea typeface="Oswald Light"/>
                          <a:cs typeface="Oswald Light"/>
                          <a:sym typeface="Oswald Light"/>
                        </a:rPr>
                        <a:t>PSNR</a:t>
                      </a:r>
                      <a:endParaRPr i="1" sz="1600">
                        <a:solidFill>
                          <a:schemeClr val="dk1"/>
                        </a:solidFill>
                        <a:latin typeface="Oswald Light"/>
                        <a:ea typeface="Oswald Light"/>
                        <a:cs typeface="Oswald Light"/>
                        <a:sym typeface="Oswald Light"/>
                      </a:endParaRPr>
                    </a:p>
                  </a:txBody>
                  <a:tcPr marT="91425" marB="91425" marR="91425" marL="91425"/>
                </a:tc>
                <a:tc>
                  <a:txBody>
                    <a:bodyPr/>
                    <a:lstStyle/>
                    <a:p>
                      <a:pPr indent="0" lvl="0" marL="0" rtl="0" algn="l">
                        <a:spcBef>
                          <a:spcPts val="0"/>
                        </a:spcBef>
                        <a:spcAft>
                          <a:spcPts val="0"/>
                        </a:spcAft>
                        <a:buNone/>
                      </a:pPr>
                      <a:r>
                        <a:rPr lang="en" sz="1600">
                          <a:solidFill>
                            <a:schemeClr val="dk1"/>
                          </a:solidFill>
                          <a:latin typeface="Oswald Light"/>
                          <a:ea typeface="Oswald Light"/>
                          <a:cs typeface="Oswald Light"/>
                          <a:sym typeface="Oswald Light"/>
                        </a:rPr>
                        <a:t>17.30 dB</a:t>
                      </a:r>
                      <a:endParaRPr sz="1600">
                        <a:solidFill>
                          <a:schemeClr val="dk1"/>
                        </a:solidFill>
                        <a:latin typeface="Oswald Light"/>
                        <a:ea typeface="Oswald Light"/>
                        <a:cs typeface="Oswald Light"/>
                        <a:sym typeface="Oswald Light"/>
                      </a:endParaRPr>
                    </a:p>
                  </a:txBody>
                  <a:tcPr marT="91425" marB="91425" marR="91425" marL="91425"/>
                </a:tc>
                <a:tc>
                  <a:txBody>
                    <a:bodyPr/>
                    <a:lstStyle/>
                    <a:p>
                      <a:pPr indent="0" lvl="0" marL="0" rtl="0" algn="l">
                        <a:spcBef>
                          <a:spcPts val="0"/>
                        </a:spcBef>
                        <a:spcAft>
                          <a:spcPts val="0"/>
                        </a:spcAft>
                        <a:buNone/>
                      </a:pPr>
                      <a:r>
                        <a:rPr lang="en" sz="1600">
                          <a:solidFill>
                            <a:schemeClr val="dk1"/>
                          </a:solidFill>
                          <a:latin typeface="Oswald Light"/>
                          <a:ea typeface="Oswald Light"/>
                          <a:cs typeface="Oswald Light"/>
                          <a:sym typeface="Oswald Light"/>
                        </a:rPr>
                        <a:t>22.78 dB</a:t>
                      </a:r>
                      <a:endParaRPr sz="1600">
                        <a:solidFill>
                          <a:schemeClr val="dk1"/>
                        </a:solidFill>
                        <a:latin typeface="Oswald Light"/>
                        <a:ea typeface="Oswald Light"/>
                        <a:cs typeface="Oswald Light"/>
                        <a:sym typeface="Oswald Light"/>
                      </a:endParaRPr>
                    </a:p>
                  </a:txBody>
                  <a:tcPr marT="91425" marB="91425" marR="91425" marL="91425"/>
                </a:tc>
                <a:tc>
                  <a:txBody>
                    <a:bodyPr/>
                    <a:lstStyle/>
                    <a:p>
                      <a:pPr indent="0" lvl="0" marL="0" rtl="0" algn="l">
                        <a:spcBef>
                          <a:spcPts val="0"/>
                        </a:spcBef>
                        <a:spcAft>
                          <a:spcPts val="0"/>
                        </a:spcAft>
                        <a:buNone/>
                      </a:pPr>
                      <a:r>
                        <a:rPr lang="en" sz="1600">
                          <a:solidFill>
                            <a:schemeClr val="dk1"/>
                          </a:solidFill>
                          <a:latin typeface="Oswald Light"/>
                          <a:ea typeface="Oswald Light"/>
                          <a:cs typeface="Oswald Light"/>
                          <a:sym typeface="Oswald Light"/>
                        </a:rPr>
                        <a:t>19.98 dB</a:t>
                      </a:r>
                      <a:endParaRPr sz="1600">
                        <a:solidFill>
                          <a:schemeClr val="dk1"/>
                        </a:solidFill>
                        <a:latin typeface="Oswald Light"/>
                        <a:ea typeface="Oswald Light"/>
                        <a:cs typeface="Oswald Light"/>
                        <a:sym typeface="Oswald Light"/>
                      </a:endParaRPr>
                    </a:p>
                  </a:txBody>
                  <a:tcPr marT="91425" marB="91425" marR="91425" marL="91425"/>
                </a:tc>
              </a:tr>
            </a:tbl>
          </a:graphicData>
        </a:graphic>
      </p:graphicFrame>
      <p:pic>
        <p:nvPicPr>
          <p:cNvPr id="109" name="Google Shape;109;p20"/>
          <p:cNvPicPr preferRelativeResize="0"/>
          <p:nvPr/>
        </p:nvPicPr>
        <p:blipFill rotWithShape="1">
          <a:blip r:embed="rId3">
            <a:alphaModFix/>
          </a:blip>
          <a:srcRect b="0" l="0" r="69878" t="7613"/>
          <a:stretch/>
        </p:blipFill>
        <p:spPr>
          <a:xfrm>
            <a:off x="390300" y="2611000"/>
            <a:ext cx="1719625" cy="1762176"/>
          </a:xfrm>
          <a:prstGeom prst="rect">
            <a:avLst/>
          </a:prstGeom>
          <a:noFill/>
          <a:ln>
            <a:noFill/>
          </a:ln>
        </p:spPr>
      </p:pic>
      <p:pic>
        <p:nvPicPr>
          <p:cNvPr id="110" name="Google Shape;110;p20"/>
          <p:cNvPicPr preferRelativeResize="0"/>
          <p:nvPr/>
        </p:nvPicPr>
        <p:blipFill rotWithShape="1">
          <a:blip r:embed="rId3">
            <a:alphaModFix/>
          </a:blip>
          <a:srcRect b="0" l="34611" r="35267" t="5962"/>
          <a:stretch/>
        </p:blipFill>
        <p:spPr>
          <a:xfrm>
            <a:off x="2628550" y="2672687"/>
            <a:ext cx="1719625" cy="1709575"/>
          </a:xfrm>
          <a:prstGeom prst="rect">
            <a:avLst/>
          </a:prstGeom>
          <a:noFill/>
          <a:ln>
            <a:noFill/>
          </a:ln>
        </p:spPr>
      </p:pic>
      <p:pic>
        <p:nvPicPr>
          <p:cNvPr id="111" name="Google Shape;111;p20"/>
          <p:cNvPicPr preferRelativeResize="0"/>
          <p:nvPr/>
        </p:nvPicPr>
        <p:blipFill rotWithShape="1">
          <a:blip r:embed="rId3">
            <a:alphaModFix/>
          </a:blip>
          <a:srcRect b="0" l="69878" r="0" t="7029"/>
          <a:stretch/>
        </p:blipFill>
        <p:spPr>
          <a:xfrm>
            <a:off x="7027650" y="2750187"/>
            <a:ext cx="1642200" cy="1616357"/>
          </a:xfrm>
          <a:prstGeom prst="rect">
            <a:avLst/>
          </a:prstGeom>
          <a:noFill/>
          <a:ln>
            <a:noFill/>
          </a:ln>
        </p:spPr>
      </p:pic>
      <p:pic>
        <p:nvPicPr>
          <p:cNvPr id="112" name="Google Shape;112;p20"/>
          <p:cNvPicPr preferRelativeResize="0"/>
          <p:nvPr/>
        </p:nvPicPr>
        <p:blipFill rotWithShape="1">
          <a:blip r:embed="rId4">
            <a:alphaModFix/>
          </a:blip>
          <a:srcRect b="0" l="54810" r="0" t="9804"/>
          <a:stretch/>
        </p:blipFill>
        <p:spPr>
          <a:xfrm>
            <a:off x="4866813" y="2719313"/>
            <a:ext cx="1642200" cy="1616350"/>
          </a:xfrm>
          <a:prstGeom prst="rect">
            <a:avLst/>
          </a:prstGeom>
          <a:noFill/>
          <a:ln>
            <a:noFill/>
          </a:ln>
        </p:spPr>
      </p:pic>
      <p:sp>
        <p:nvSpPr>
          <p:cNvPr id="113" name="Google Shape;113;p20"/>
          <p:cNvSpPr txBox="1"/>
          <p:nvPr/>
        </p:nvSpPr>
        <p:spPr>
          <a:xfrm>
            <a:off x="429000" y="2142625"/>
            <a:ext cx="16422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600">
                <a:solidFill>
                  <a:schemeClr val="accent3"/>
                </a:solidFill>
                <a:latin typeface="Average"/>
                <a:ea typeface="Average"/>
                <a:cs typeface="Average"/>
                <a:sym typeface="Average"/>
              </a:rPr>
              <a:t>Original Image</a:t>
            </a:r>
            <a:endParaRPr sz="1600">
              <a:solidFill>
                <a:schemeClr val="accent3"/>
              </a:solidFill>
              <a:latin typeface="Average"/>
              <a:ea typeface="Average"/>
              <a:cs typeface="Average"/>
              <a:sym typeface="Average"/>
            </a:endParaRPr>
          </a:p>
        </p:txBody>
      </p:sp>
      <p:sp>
        <p:nvSpPr>
          <p:cNvPr id="114" name="Google Shape;114;p20"/>
          <p:cNvSpPr txBox="1"/>
          <p:nvPr/>
        </p:nvSpPr>
        <p:spPr>
          <a:xfrm>
            <a:off x="2406563" y="2105350"/>
            <a:ext cx="21636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600">
                <a:solidFill>
                  <a:schemeClr val="accent3"/>
                </a:solidFill>
                <a:latin typeface="Average"/>
                <a:ea typeface="Average"/>
                <a:cs typeface="Average"/>
                <a:sym typeface="Average"/>
              </a:rPr>
              <a:t>Laplace Reconstruction</a:t>
            </a:r>
            <a:endParaRPr sz="1600">
              <a:solidFill>
                <a:schemeClr val="accent3"/>
              </a:solidFill>
              <a:latin typeface="Average"/>
              <a:ea typeface="Average"/>
              <a:cs typeface="Average"/>
              <a:sym typeface="Average"/>
            </a:endParaRPr>
          </a:p>
        </p:txBody>
      </p:sp>
      <p:sp>
        <p:nvSpPr>
          <p:cNvPr id="115" name="Google Shape;115;p20"/>
          <p:cNvSpPr txBox="1"/>
          <p:nvPr/>
        </p:nvSpPr>
        <p:spPr>
          <a:xfrm>
            <a:off x="4570187" y="2061100"/>
            <a:ext cx="21636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600">
                <a:solidFill>
                  <a:schemeClr val="accent3"/>
                </a:solidFill>
                <a:latin typeface="Average"/>
                <a:ea typeface="Average"/>
                <a:cs typeface="Average"/>
                <a:sym typeface="Average"/>
              </a:rPr>
              <a:t>Gaussian Reconstruction</a:t>
            </a:r>
            <a:endParaRPr sz="1600">
              <a:solidFill>
                <a:schemeClr val="accent3"/>
              </a:solidFill>
              <a:latin typeface="Average"/>
              <a:ea typeface="Average"/>
              <a:cs typeface="Average"/>
              <a:sym typeface="Average"/>
            </a:endParaRPr>
          </a:p>
        </p:txBody>
      </p:sp>
      <p:sp>
        <p:nvSpPr>
          <p:cNvPr id="116" name="Google Shape;116;p20"/>
          <p:cNvSpPr txBox="1"/>
          <p:nvPr/>
        </p:nvSpPr>
        <p:spPr>
          <a:xfrm>
            <a:off x="6646250" y="2074450"/>
            <a:ext cx="22635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accent3"/>
                </a:solidFill>
                <a:latin typeface="Average"/>
                <a:ea typeface="Average"/>
                <a:cs typeface="Average"/>
                <a:sym typeface="Average"/>
              </a:rPr>
              <a:t>Zero-filled FFT Reconstruction</a:t>
            </a:r>
            <a:endParaRPr sz="1800">
              <a:solidFill>
                <a:schemeClr val="accent3"/>
              </a:solidFill>
              <a:latin typeface="Average"/>
              <a:ea typeface="Average"/>
              <a:cs typeface="Average"/>
              <a:sym typeface="Average"/>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Another Baseline: The Traditional Approach</a:t>
            </a:r>
            <a:endParaRPr/>
          </a:p>
        </p:txBody>
      </p:sp>
      <p:sp>
        <p:nvSpPr>
          <p:cNvPr id="122" name="Google Shape;122;p2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Modern MRI reconstruction often uses learned priors (CNNs/diffusion models)</a:t>
            </a:r>
            <a:endParaRPr/>
          </a:p>
          <a:p>
            <a:pPr indent="-342900" lvl="0" marL="457200" rtl="0" algn="l">
              <a:spcBef>
                <a:spcPts val="0"/>
              </a:spcBef>
              <a:spcAft>
                <a:spcPts val="0"/>
              </a:spcAft>
              <a:buSzPts val="1800"/>
              <a:buChar char="●"/>
            </a:pPr>
            <a:r>
              <a:rPr lang="en"/>
              <a:t>Trained a small CNN:</a:t>
            </a:r>
            <a:endParaRPr/>
          </a:p>
          <a:p>
            <a:pPr indent="-342900" lvl="1" marL="914400" rtl="0" algn="l">
              <a:spcBef>
                <a:spcPts val="0"/>
              </a:spcBef>
              <a:spcAft>
                <a:spcPts val="0"/>
              </a:spcAft>
              <a:buSzPts val="1800"/>
              <a:buChar char="○"/>
            </a:pPr>
            <a:r>
              <a:rPr lang="en" sz="1800"/>
              <a:t>3 layers, 64 channels, 3x3 kernels (standard, small)</a:t>
            </a:r>
            <a:endParaRPr sz="1800"/>
          </a:p>
          <a:p>
            <a:pPr indent="-342900" lvl="1" marL="914400" rtl="0" algn="l">
              <a:spcBef>
                <a:spcPts val="0"/>
              </a:spcBef>
              <a:spcAft>
                <a:spcPts val="0"/>
              </a:spcAft>
              <a:buSzPts val="1800"/>
              <a:buChar char="○"/>
            </a:pPr>
            <a:r>
              <a:rPr lang="en" sz="1800"/>
              <a:t>Input: undersampled MRI slice</a:t>
            </a:r>
            <a:endParaRPr sz="1800"/>
          </a:p>
          <a:p>
            <a:pPr indent="-342900" lvl="1" marL="914400" rtl="0" algn="l">
              <a:spcBef>
                <a:spcPts val="0"/>
              </a:spcBef>
              <a:spcAft>
                <a:spcPts val="0"/>
              </a:spcAft>
              <a:buSzPts val="1800"/>
              <a:buChar char="○"/>
            </a:pPr>
            <a:r>
              <a:rPr lang="en" sz="1800"/>
              <a:t>Predicts a correction:   			   where</a:t>
            </a:r>
            <a:endParaRPr sz="1800"/>
          </a:p>
          <a:p>
            <a:pPr indent="-342900" lvl="2" marL="1371600" rtl="0" algn="l">
              <a:spcBef>
                <a:spcPts val="0"/>
              </a:spcBef>
              <a:spcAft>
                <a:spcPts val="0"/>
              </a:spcAft>
              <a:buSzPts val="1800"/>
              <a:buChar char="■"/>
            </a:pPr>
            <a:r>
              <a:rPr lang="en" sz="1800"/>
              <a:t>    is final reconstructed image</a:t>
            </a:r>
            <a:endParaRPr sz="1800"/>
          </a:p>
          <a:p>
            <a:pPr indent="-342900" lvl="2" marL="1371600" rtl="0" algn="l">
              <a:spcBef>
                <a:spcPts val="0"/>
              </a:spcBef>
              <a:spcAft>
                <a:spcPts val="0"/>
              </a:spcAft>
              <a:buSzPts val="1800"/>
              <a:buChar char="■"/>
            </a:pPr>
            <a:r>
              <a:rPr lang="en" sz="1800"/>
              <a:t>        is learned correction  </a:t>
            </a:r>
            <a:endParaRPr sz="1800"/>
          </a:p>
          <a:p>
            <a:pPr indent="-342900" lvl="2" marL="1371600" rtl="0" algn="l">
              <a:spcBef>
                <a:spcPts val="0"/>
              </a:spcBef>
              <a:spcAft>
                <a:spcPts val="0"/>
              </a:spcAft>
              <a:buSzPts val="1800"/>
              <a:buChar char="■"/>
            </a:pPr>
            <a:r>
              <a:rPr lang="en" sz="1800"/>
              <a:t>    is the undersampled input</a:t>
            </a:r>
            <a:endParaRPr sz="1800"/>
          </a:p>
          <a:p>
            <a:pPr indent="-342900" lvl="1" marL="914400" rtl="0" algn="l">
              <a:spcBef>
                <a:spcPts val="0"/>
              </a:spcBef>
              <a:spcAft>
                <a:spcPts val="0"/>
              </a:spcAft>
              <a:buSzPts val="1800"/>
              <a:buChar char="○"/>
            </a:pPr>
            <a:r>
              <a:rPr lang="en" sz="1800"/>
              <a:t>Used L1 loss (common in image restoration tasks): </a:t>
            </a:r>
            <a:endParaRPr sz="1800"/>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pic>
        <p:nvPicPr>
          <p:cNvPr id="123" name="Google Shape;123;p21" title="{&quot;red&quot;:202,&quot;green&quot;:202,&quot;blue&quot;:202,&quot;origURL&quot;:&quot;https://www.codecogs.com/eqnedit.php?latex=x*%3Dx%20%2Bf(x)#0&quot;,&quot;size&quot;:14,&quot;width&quot;:670.9133858267717,&quot;height&quot;:269.00787401574803}"/>
          <p:cNvPicPr preferRelativeResize="0"/>
          <p:nvPr/>
        </p:nvPicPr>
        <p:blipFill>
          <a:blip r:embed="rId3">
            <a:alphaModFix/>
          </a:blip>
          <a:stretch>
            <a:fillRect/>
          </a:stretch>
        </p:blipFill>
        <p:spPr>
          <a:xfrm>
            <a:off x="3388400" y="2571750"/>
            <a:ext cx="1256501" cy="200025"/>
          </a:xfrm>
          <a:prstGeom prst="rect">
            <a:avLst/>
          </a:prstGeom>
          <a:noFill/>
          <a:ln>
            <a:noFill/>
          </a:ln>
        </p:spPr>
      </p:pic>
      <p:pic>
        <p:nvPicPr>
          <p:cNvPr id="124" name="Google Shape;124;p21" title="{&quot;red&quot;:202,&quot;green&quot;:202,&quot;blue&quot;:202,&quot;origURL&quot;:&quot;https://www.codecogs.com/eqnedit.php?latex=x%5E*#0&quot;,&quot;size&quot;:14,&quot;width&quot;:670.9133858267717,&quot;height&quot;:269.00787401574803}"/>
          <p:cNvPicPr preferRelativeResize="0"/>
          <p:nvPr/>
        </p:nvPicPr>
        <p:blipFill>
          <a:blip r:embed="rId4">
            <a:alphaModFix/>
          </a:blip>
          <a:stretch>
            <a:fillRect/>
          </a:stretch>
        </p:blipFill>
        <p:spPr>
          <a:xfrm>
            <a:off x="1741925" y="2899000"/>
            <a:ext cx="166688" cy="144018"/>
          </a:xfrm>
          <a:prstGeom prst="rect">
            <a:avLst/>
          </a:prstGeom>
          <a:noFill/>
          <a:ln>
            <a:noFill/>
          </a:ln>
        </p:spPr>
      </p:pic>
      <p:pic>
        <p:nvPicPr>
          <p:cNvPr id="125" name="Google Shape;125;p21" title="{&quot;red&quot;:202,&quot;green&quot;:202,&quot;blue&quot;:202,&quot;origURL&quot;:&quot;https://www.codecogs.com/eqnedit.php?latex=f(x)#0&quot;,&quot;size&quot;:14,&quot;width&quot;:670.9133858267717,&quot;height&quot;:269.00787401574803}"/>
          <p:cNvPicPr preferRelativeResize="0"/>
          <p:nvPr/>
        </p:nvPicPr>
        <p:blipFill>
          <a:blip r:embed="rId5">
            <a:alphaModFix/>
          </a:blip>
          <a:stretch>
            <a:fillRect/>
          </a:stretch>
        </p:blipFill>
        <p:spPr>
          <a:xfrm>
            <a:off x="1741925" y="3166838"/>
            <a:ext cx="352044" cy="200025"/>
          </a:xfrm>
          <a:prstGeom prst="rect">
            <a:avLst/>
          </a:prstGeom>
          <a:noFill/>
          <a:ln>
            <a:noFill/>
          </a:ln>
        </p:spPr>
      </p:pic>
      <p:pic>
        <p:nvPicPr>
          <p:cNvPr id="126" name="Google Shape;126;p21" title="{&quot;red&quot;:202,&quot;green&quot;:202,&quot;blue&quot;:202,&quot;origURL&quot;:&quot;https://www.codecogs.com/eqnedit.php?latex=x#0&quot;,&quot;size&quot;:14,&quot;width&quot;:670.9133858267717,&quot;height&quot;:269.00787401574803}"/>
          <p:cNvPicPr preferRelativeResize="0"/>
          <p:nvPr/>
        </p:nvPicPr>
        <p:blipFill>
          <a:blip r:embed="rId6">
            <a:alphaModFix/>
          </a:blip>
          <a:stretch>
            <a:fillRect/>
          </a:stretch>
        </p:blipFill>
        <p:spPr>
          <a:xfrm>
            <a:off x="1741925" y="3577775"/>
            <a:ext cx="116550" cy="106950"/>
          </a:xfrm>
          <a:prstGeom prst="rect">
            <a:avLst/>
          </a:prstGeom>
          <a:noFill/>
          <a:ln>
            <a:noFill/>
          </a:ln>
        </p:spPr>
      </p:pic>
      <p:pic>
        <p:nvPicPr>
          <p:cNvPr id="127" name="Google Shape;127;p21" title="{&quot;red&quot;:202,&quot;green&quot;:202,&quot;blue&quot;:202,&quot;origURL&quot;:&quot;https://www.codecogs.com/eqnedit.php?latex=%7C%7Cx%2Bf(x)-x_%7Btrue%7D%7C%7C#0&quot;,&quot;size&quot;:14,&quot;width&quot;:670.9133858267717,&quot;height&quot;:269.00787401574803}"/>
          <p:cNvPicPr preferRelativeResize="0"/>
          <p:nvPr/>
        </p:nvPicPr>
        <p:blipFill>
          <a:blip r:embed="rId7">
            <a:alphaModFix/>
          </a:blip>
          <a:stretch>
            <a:fillRect/>
          </a:stretch>
        </p:blipFill>
        <p:spPr>
          <a:xfrm>
            <a:off x="6247464" y="3849025"/>
            <a:ext cx="1533536" cy="2000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Neural Network Baseline Results</a:t>
            </a:r>
            <a:endParaRPr/>
          </a:p>
        </p:txBody>
      </p:sp>
      <p:pic>
        <p:nvPicPr>
          <p:cNvPr id="133" name="Google Shape;133;p22"/>
          <p:cNvPicPr preferRelativeResize="0"/>
          <p:nvPr/>
        </p:nvPicPr>
        <p:blipFill>
          <a:blip r:embed="rId3">
            <a:alphaModFix/>
          </a:blip>
          <a:stretch>
            <a:fillRect/>
          </a:stretch>
        </p:blipFill>
        <p:spPr>
          <a:xfrm>
            <a:off x="633175" y="1216588"/>
            <a:ext cx="7877651" cy="2710331"/>
          </a:xfrm>
          <a:prstGeom prst="rect">
            <a:avLst/>
          </a:prstGeom>
          <a:noFill/>
          <a:ln>
            <a:noFill/>
          </a:ln>
        </p:spPr>
      </p:pic>
      <p:sp>
        <p:nvSpPr>
          <p:cNvPr id="134" name="Google Shape;134;p22"/>
          <p:cNvSpPr txBox="1"/>
          <p:nvPr/>
        </p:nvSpPr>
        <p:spPr>
          <a:xfrm>
            <a:off x="422400" y="3991875"/>
            <a:ext cx="82989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accent3"/>
                </a:solidFill>
                <a:latin typeface="Average"/>
                <a:ea typeface="Average"/>
                <a:cs typeface="Average"/>
                <a:sym typeface="Average"/>
              </a:rPr>
              <a:t>Gaussian kernel still achieves highest PSNR, implying the kernel method is competitive to traditional, learned methods.</a:t>
            </a:r>
            <a:endParaRPr sz="1800">
              <a:solidFill>
                <a:schemeClr val="accent3"/>
              </a:solidFill>
              <a:latin typeface="Average"/>
              <a:ea typeface="Average"/>
              <a:cs typeface="Average"/>
              <a:sym typeface="Average"/>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Warm-Start Neural Network</a:t>
            </a:r>
            <a:endParaRPr/>
          </a:p>
        </p:txBody>
      </p:sp>
      <p:sp>
        <p:nvSpPr>
          <p:cNvPr id="140" name="Google Shape;140;p23"/>
          <p:cNvSpPr txBox="1"/>
          <p:nvPr>
            <p:ph idx="1" type="body"/>
          </p:nvPr>
        </p:nvSpPr>
        <p:spPr>
          <a:xfrm>
            <a:off x="311700" y="1017725"/>
            <a:ext cx="8520600" cy="13473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1200"/>
              </a:spcAft>
              <a:buNone/>
            </a:pPr>
            <a:r>
              <a:rPr lang="en"/>
              <a:t>Again, used kernel reconstruction as input to a neural network but only let the neural network fill in the directions the kernel did not already smooth. We also changed the neural network architecture to U-Net, rather than ReLU which is more common in medical applications.  </a:t>
            </a:r>
            <a:endParaRPr/>
          </a:p>
        </p:txBody>
      </p:sp>
      <p:pic>
        <p:nvPicPr>
          <p:cNvPr id="141" name="Google Shape;141;p23"/>
          <p:cNvPicPr preferRelativeResize="0"/>
          <p:nvPr/>
        </p:nvPicPr>
        <p:blipFill>
          <a:blip r:embed="rId3">
            <a:alphaModFix/>
          </a:blip>
          <a:stretch>
            <a:fillRect/>
          </a:stretch>
        </p:blipFill>
        <p:spPr>
          <a:xfrm>
            <a:off x="1117788" y="2365025"/>
            <a:ext cx="6908425" cy="23510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Warm-Start Neural Network Results</a:t>
            </a:r>
            <a:endParaRPr/>
          </a:p>
        </p:txBody>
      </p:sp>
      <p:sp>
        <p:nvSpPr>
          <p:cNvPr id="147" name="Google Shape;147;p24"/>
          <p:cNvSpPr txBox="1"/>
          <p:nvPr>
            <p:ph idx="1" type="body"/>
          </p:nvPr>
        </p:nvSpPr>
        <p:spPr>
          <a:xfrm>
            <a:off x="445050" y="3991875"/>
            <a:ext cx="8253900" cy="8715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lang="en"/>
              <a:t>Achieved a perfect reconstruction of the desired image!</a:t>
            </a:r>
            <a:endParaRPr/>
          </a:p>
        </p:txBody>
      </p:sp>
      <p:graphicFrame>
        <p:nvGraphicFramePr>
          <p:cNvPr id="148" name="Google Shape;148;p24"/>
          <p:cNvGraphicFramePr/>
          <p:nvPr/>
        </p:nvGraphicFramePr>
        <p:xfrm>
          <a:off x="445050" y="1455300"/>
          <a:ext cx="3000000" cy="3000000"/>
        </p:xfrm>
        <a:graphic>
          <a:graphicData uri="http://schemas.openxmlformats.org/drawingml/2006/table">
            <a:tbl>
              <a:tblPr>
                <a:noFill/>
                <a:tableStyleId>{099C4B19-8DFC-4C2B-A7D9-31AAD03009BB}</a:tableStyleId>
              </a:tblPr>
              <a:tblGrid>
                <a:gridCol w="2582150"/>
                <a:gridCol w="2582150"/>
                <a:gridCol w="2582150"/>
              </a:tblGrid>
              <a:tr h="558225">
                <a:tc>
                  <a:txBody>
                    <a:bodyPr/>
                    <a:lstStyle/>
                    <a:p>
                      <a:pPr indent="0" lvl="0" marL="0" rtl="0" algn="l">
                        <a:spcBef>
                          <a:spcPts val="0"/>
                        </a:spcBef>
                        <a:spcAft>
                          <a:spcPts val="0"/>
                        </a:spcAft>
                        <a:buNone/>
                      </a:pPr>
                      <a:r>
                        <a:t/>
                      </a:r>
                      <a:endParaRPr>
                        <a:solidFill>
                          <a:schemeClr val="dk1"/>
                        </a:solidFill>
                        <a:latin typeface="Oswald"/>
                        <a:ea typeface="Oswald"/>
                        <a:cs typeface="Oswald"/>
                        <a:sym typeface="Oswald"/>
                      </a:endParaRPr>
                    </a:p>
                  </a:txBody>
                  <a:tcPr marT="91425" marB="91425" marR="91425" marL="91425"/>
                </a:tc>
                <a:tc>
                  <a:txBody>
                    <a:bodyPr/>
                    <a:lstStyle/>
                    <a:p>
                      <a:pPr indent="0" lvl="0" marL="0" rtl="0" algn="l">
                        <a:spcBef>
                          <a:spcPts val="0"/>
                        </a:spcBef>
                        <a:spcAft>
                          <a:spcPts val="0"/>
                        </a:spcAft>
                        <a:buNone/>
                      </a:pPr>
                      <a:r>
                        <a:rPr lang="en">
                          <a:solidFill>
                            <a:schemeClr val="dk1"/>
                          </a:solidFill>
                          <a:latin typeface="Oswald"/>
                          <a:ea typeface="Oswald"/>
                          <a:cs typeface="Oswald"/>
                          <a:sym typeface="Oswald"/>
                        </a:rPr>
                        <a:t>Gaussian Reconstruction</a:t>
                      </a:r>
                      <a:endParaRPr>
                        <a:solidFill>
                          <a:schemeClr val="dk1"/>
                        </a:solidFill>
                        <a:latin typeface="Oswald"/>
                        <a:ea typeface="Oswald"/>
                        <a:cs typeface="Oswald"/>
                        <a:sym typeface="Oswald"/>
                      </a:endParaRPr>
                    </a:p>
                  </a:txBody>
                  <a:tcPr marT="91425" marB="91425" marR="91425" marL="91425"/>
                </a:tc>
                <a:tc>
                  <a:txBody>
                    <a:bodyPr/>
                    <a:lstStyle/>
                    <a:p>
                      <a:pPr indent="0" lvl="0" marL="0" rtl="0" algn="l">
                        <a:spcBef>
                          <a:spcPts val="0"/>
                        </a:spcBef>
                        <a:spcAft>
                          <a:spcPts val="0"/>
                        </a:spcAft>
                        <a:buNone/>
                      </a:pPr>
                      <a:r>
                        <a:rPr lang="en">
                          <a:solidFill>
                            <a:schemeClr val="dk1"/>
                          </a:solidFill>
                          <a:latin typeface="Oswald"/>
                          <a:ea typeface="Oswald"/>
                          <a:cs typeface="Oswald"/>
                          <a:sym typeface="Oswald"/>
                        </a:rPr>
                        <a:t>Warm-Start NN Reconstruction</a:t>
                      </a:r>
                      <a:endParaRPr>
                        <a:solidFill>
                          <a:schemeClr val="dk1"/>
                        </a:solidFill>
                        <a:latin typeface="Oswald"/>
                        <a:ea typeface="Oswald"/>
                        <a:cs typeface="Oswald"/>
                        <a:sym typeface="Oswald"/>
                      </a:endParaRPr>
                    </a:p>
                  </a:txBody>
                  <a:tcPr marT="91425" marB="91425" marR="91425" marL="91425"/>
                </a:tc>
              </a:tr>
              <a:tr h="558225">
                <a:tc>
                  <a:txBody>
                    <a:bodyPr/>
                    <a:lstStyle/>
                    <a:p>
                      <a:pPr indent="0" lvl="0" marL="0" rtl="0" algn="l">
                        <a:spcBef>
                          <a:spcPts val="0"/>
                        </a:spcBef>
                        <a:spcAft>
                          <a:spcPts val="0"/>
                        </a:spcAft>
                        <a:buNone/>
                      </a:pPr>
                      <a:r>
                        <a:rPr lang="en">
                          <a:solidFill>
                            <a:schemeClr val="dk1"/>
                          </a:solidFill>
                          <a:latin typeface="Oswald"/>
                          <a:ea typeface="Oswald"/>
                          <a:cs typeface="Oswald"/>
                          <a:sym typeface="Oswald"/>
                        </a:rPr>
                        <a:t>PSNR</a:t>
                      </a:r>
                      <a:endParaRPr>
                        <a:solidFill>
                          <a:schemeClr val="dk1"/>
                        </a:solidFill>
                        <a:latin typeface="Oswald"/>
                        <a:ea typeface="Oswald"/>
                        <a:cs typeface="Oswald"/>
                        <a:sym typeface="Oswald"/>
                      </a:endParaRPr>
                    </a:p>
                  </a:txBody>
                  <a:tcPr marT="91425" marB="91425" marR="91425" marL="91425"/>
                </a:tc>
                <a:tc>
                  <a:txBody>
                    <a:bodyPr/>
                    <a:lstStyle/>
                    <a:p>
                      <a:pPr indent="0" lvl="0" marL="0" rtl="0" algn="l">
                        <a:spcBef>
                          <a:spcPts val="0"/>
                        </a:spcBef>
                        <a:spcAft>
                          <a:spcPts val="0"/>
                        </a:spcAft>
                        <a:buNone/>
                      </a:pPr>
                      <a:r>
                        <a:rPr lang="en">
                          <a:solidFill>
                            <a:schemeClr val="dk1"/>
                          </a:solidFill>
                          <a:latin typeface="Oswald"/>
                          <a:ea typeface="Oswald"/>
                          <a:cs typeface="Oswald"/>
                          <a:sym typeface="Oswald"/>
                        </a:rPr>
                        <a:t>19.581 dB</a:t>
                      </a:r>
                      <a:endParaRPr>
                        <a:solidFill>
                          <a:schemeClr val="dk1"/>
                        </a:solidFill>
                        <a:latin typeface="Oswald"/>
                        <a:ea typeface="Oswald"/>
                        <a:cs typeface="Oswald"/>
                        <a:sym typeface="Oswald"/>
                      </a:endParaRPr>
                    </a:p>
                  </a:txBody>
                  <a:tcPr marT="91425" marB="91425" marR="91425" marL="91425"/>
                </a:tc>
                <a:tc>
                  <a:txBody>
                    <a:bodyPr/>
                    <a:lstStyle/>
                    <a:p>
                      <a:pPr indent="0" lvl="0" marL="0" rtl="0" algn="l">
                        <a:spcBef>
                          <a:spcPts val="0"/>
                        </a:spcBef>
                        <a:spcAft>
                          <a:spcPts val="0"/>
                        </a:spcAft>
                        <a:buNone/>
                      </a:pPr>
                      <a:r>
                        <a:rPr lang="en">
                          <a:solidFill>
                            <a:schemeClr val="dk1"/>
                          </a:solidFill>
                          <a:latin typeface="Oswald"/>
                          <a:ea typeface="Oswald"/>
                          <a:cs typeface="Oswald"/>
                          <a:sym typeface="Oswald"/>
                        </a:rPr>
                        <a:t>137.75 dB</a:t>
                      </a:r>
                      <a:endParaRPr>
                        <a:solidFill>
                          <a:schemeClr val="dk1"/>
                        </a:solidFill>
                        <a:latin typeface="Oswald"/>
                        <a:ea typeface="Oswald"/>
                        <a:cs typeface="Oswald"/>
                        <a:sym typeface="Oswald"/>
                      </a:endParaRPr>
                    </a:p>
                  </a:txBody>
                  <a:tcPr marT="91425" marB="91425" marR="91425" marL="91425"/>
                </a:tc>
              </a:tr>
              <a:tr h="558225">
                <a:tc>
                  <a:txBody>
                    <a:bodyPr/>
                    <a:lstStyle/>
                    <a:p>
                      <a:pPr indent="0" lvl="0" marL="0" rtl="0" algn="l">
                        <a:spcBef>
                          <a:spcPts val="0"/>
                        </a:spcBef>
                        <a:spcAft>
                          <a:spcPts val="0"/>
                        </a:spcAft>
                        <a:buNone/>
                      </a:pPr>
                      <a:r>
                        <a:rPr lang="en">
                          <a:solidFill>
                            <a:schemeClr val="dk1"/>
                          </a:solidFill>
                          <a:latin typeface="Oswald"/>
                          <a:ea typeface="Oswald"/>
                          <a:cs typeface="Oswald"/>
                          <a:sym typeface="Oswald"/>
                        </a:rPr>
                        <a:t>MSE</a:t>
                      </a:r>
                      <a:endParaRPr>
                        <a:solidFill>
                          <a:schemeClr val="dk1"/>
                        </a:solidFill>
                        <a:latin typeface="Oswald"/>
                        <a:ea typeface="Oswald"/>
                        <a:cs typeface="Oswald"/>
                        <a:sym typeface="Oswald"/>
                      </a:endParaRPr>
                    </a:p>
                  </a:txBody>
                  <a:tcPr marT="91425" marB="91425" marR="91425" marL="91425"/>
                </a:tc>
                <a:tc>
                  <a:txBody>
                    <a:bodyPr/>
                    <a:lstStyle/>
                    <a:p>
                      <a:pPr indent="0" lvl="0" marL="0" rtl="0" algn="l">
                        <a:spcBef>
                          <a:spcPts val="0"/>
                        </a:spcBef>
                        <a:spcAft>
                          <a:spcPts val="0"/>
                        </a:spcAft>
                        <a:buNone/>
                      </a:pPr>
                      <a:r>
                        <a:rPr lang="en">
                          <a:solidFill>
                            <a:schemeClr val="dk1"/>
                          </a:solidFill>
                          <a:latin typeface="Oswald"/>
                          <a:ea typeface="Oswald"/>
                          <a:cs typeface="Oswald"/>
                          <a:sym typeface="Oswald"/>
                        </a:rPr>
                        <a:t>0.011</a:t>
                      </a:r>
                      <a:endParaRPr>
                        <a:solidFill>
                          <a:schemeClr val="dk1"/>
                        </a:solidFill>
                        <a:latin typeface="Oswald"/>
                        <a:ea typeface="Oswald"/>
                        <a:cs typeface="Oswald"/>
                        <a:sym typeface="Oswald"/>
                      </a:endParaRPr>
                    </a:p>
                  </a:txBody>
                  <a:tcPr marT="91425" marB="91425" marR="91425" marL="91425"/>
                </a:tc>
                <a:tc>
                  <a:txBody>
                    <a:bodyPr/>
                    <a:lstStyle/>
                    <a:p>
                      <a:pPr indent="0" lvl="0" marL="0" rtl="0" algn="l">
                        <a:spcBef>
                          <a:spcPts val="0"/>
                        </a:spcBef>
                        <a:spcAft>
                          <a:spcPts val="0"/>
                        </a:spcAft>
                        <a:buNone/>
                      </a:pPr>
                      <a:r>
                        <a:rPr lang="en">
                          <a:solidFill>
                            <a:schemeClr val="dk1"/>
                          </a:solidFill>
                          <a:latin typeface="Oswald"/>
                          <a:ea typeface="Oswald"/>
                          <a:cs typeface="Oswald"/>
                          <a:sym typeface="Oswald"/>
                        </a:rPr>
                        <a:t>0</a:t>
                      </a:r>
                      <a:endParaRPr>
                        <a:solidFill>
                          <a:schemeClr val="dk1"/>
                        </a:solidFill>
                        <a:latin typeface="Oswald"/>
                        <a:ea typeface="Oswald"/>
                        <a:cs typeface="Oswald"/>
                        <a:sym typeface="Oswald"/>
                      </a:endParaRPr>
                    </a:p>
                  </a:txBody>
                  <a:tcPr marT="91425" marB="91425" marR="91425" marL="91425"/>
                </a:tc>
              </a:tr>
              <a:tr h="558225">
                <a:tc>
                  <a:txBody>
                    <a:bodyPr/>
                    <a:lstStyle/>
                    <a:p>
                      <a:pPr indent="0" lvl="0" marL="0" rtl="0" algn="l">
                        <a:spcBef>
                          <a:spcPts val="0"/>
                        </a:spcBef>
                        <a:spcAft>
                          <a:spcPts val="0"/>
                        </a:spcAft>
                        <a:buNone/>
                      </a:pPr>
                      <a:r>
                        <a:rPr lang="en">
                          <a:solidFill>
                            <a:schemeClr val="dk1"/>
                          </a:solidFill>
                          <a:latin typeface="Oswald"/>
                          <a:ea typeface="Oswald"/>
                          <a:cs typeface="Oswald"/>
                          <a:sym typeface="Oswald"/>
                        </a:rPr>
                        <a:t>SSIM</a:t>
                      </a:r>
                      <a:endParaRPr>
                        <a:solidFill>
                          <a:schemeClr val="dk1"/>
                        </a:solidFill>
                        <a:latin typeface="Oswald"/>
                        <a:ea typeface="Oswald"/>
                        <a:cs typeface="Oswald"/>
                        <a:sym typeface="Oswald"/>
                      </a:endParaRPr>
                    </a:p>
                  </a:txBody>
                  <a:tcPr marT="91425" marB="91425" marR="91425" marL="91425"/>
                </a:tc>
                <a:tc>
                  <a:txBody>
                    <a:bodyPr/>
                    <a:lstStyle/>
                    <a:p>
                      <a:pPr indent="0" lvl="0" marL="0" rtl="0" algn="l">
                        <a:spcBef>
                          <a:spcPts val="0"/>
                        </a:spcBef>
                        <a:spcAft>
                          <a:spcPts val="0"/>
                        </a:spcAft>
                        <a:buNone/>
                      </a:pPr>
                      <a:r>
                        <a:rPr lang="en">
                          <a:solidFill>
                            <a:schemeClr val="dk1"/>
                          </a:solidFill>
                          <a:latin typeface="Oswald"/>
                          <a:ea typeface="Oswald"/>
                          <a:cs typeface="Oswald"/>
                          <a:sym typeface="Oswald"/>
                        </a:rPr>
                        <a:t>0.605</a:t>
                      </a:r>
                      <a:endParaRPr>
                        <a:solidFill>
                          <a:schemeClr val="dk1"/>
                        </a:solidFill>
                        <a:latin typeface="Oswald"/>
                        <a:ea typeface="Oswald"/>
                        <a:cs typeface="Oswald"/>
                        <a:sym typeface="Oswald"/>
                      </a:endParaRPr>
                    </a:p>
                  </a:txBody>
                  <a:tcPr marT="91425" marB="91425" marR="91425" marL="91425"/>
                </a:tc>
                <a:tc>
                  <a:txBody>
                    <a:bodyPr/>
                    <a:lstStyle/>
                    <a:p>
                      <a:pPr indent="0" lvl="0" marL="0" rtl="0" algn="l">
                        <a:spcBef>
                          <a:spcPts val="0"/>
                        </a:spcBef>
                        <a:spcAft>
                          <a:spcPts val="0"/>
                        </a:spcAft>
                        <a:buNone/>
                      </a:pPr>
                      <a:r>
                        <a:rPr lang="en">
                          <a:solidFill>
                            <a:schemeClr val="dk1"/>
                          </a:solidFill>
                          <a:latin typeface="Oswald"/>
                          <a:ea typeface="Oswald"/>
                          <a:cs typeface="Oswald"/>
                          <a:sym typeface="Oswald"/>
                        </a:rPr>
                        <a:t>1.0</a:t>
                      </a:r>
                      <a:endParaRPr>
                        <a:solidFill>
                          <a:schemeClr val="dk1"/>
                        </a:solidFill>
                        <a:latin typeface="Oswald"/>
                        <a:ea typeface="Oswald"/>
                        <a:cs typeface="Oswald"/>
                        <a:sym typeface="Oswald"/>
                      </a:endParaRPr>
                    </a:p>
                  </a:txBody>
                  <a:tcPr marT="91425" marB="91425" marR="91425" marL="91425"/>
                </a:tc>
              </a:tr>
            </a:tbl>
          </a:graphicData>
        </a:graphic>
      </p:graphicFrame>
      <p:sp>
        <p:nvSpPr>
          <p:cNvPr id="149" name="Google Shape;149;p24"/>
          <p:cNvSpPr/>
          <p:nvPr/>
        </p:nvSpPr>
        <p:spPr>
          <a:xfrm flipH="1" rot="8668740">
            <a:off x="4865498" y="3566455"/>
            <a:ext cx="838552" cy="200457"/>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verage"/>
              <a:ea typeface="Average"/>
              <a:cs typeface="Average"/>
              <a:sym typeface="Average"/>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Super Resolution Convolutional Neural Network (SRCNN)</a:t>
            </a:r>
            <a:endParaRPr/>
          </a:p>
        </p:txBody>
      </p:sp>
      <p:sp>
        <p:nvSpPr>
          <p:cNvPr id="155" name="Google Shape;155;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SRCNN is a three-layer CNN for single-image super resolution. Instead of applying kernels, we used SRCNN to reconstruct the entire slice. It made the following improvements:</a:t>
            </a:r>
            <a:endParaRPr/>
          </a:p>
          <a:p>
            <a:pPr indent="0" lvl="0" marL="0" rtl="0" algn="l">
              <a:spcBef>
                <a:spcPts val="1200"/>
              </a:spcBef>
              <a:spcAft>
                <a:spcPts val="0"/>
              </a:spcAft>
              <a:buNone/>
            </a:pPr>
            <a:r>
              <a:t/>
            </a:r>
            <a:endParaRPr/>
          </a:p>
        </p:txBody>
      </p:sp>
      <p:graphicFrame>
        <p:nvGraphicFramePr>
          <p:cNvPr id="156" name="Google Shape;156;p25"/>
          <p:cNvGraphicFramePr/>
          <p:nvPr/>
        </p:nvGraphicFramePr>
        <p:xfrm>
          <a:off x="689100" y="2571750"/>
          <a:ext cx="3000000" cy="3000000"/>
        </p:xfrm>
        <a:graphic>
          <a:graphicData uri="http://schemas.openxmlformats.org/drawingml/2006/table">
            <a:tbl>
              <a:tblPr>
                <a:noFill/>
                <a:tableStyleId>{099C4B19-8DFC-4C2B-A7D9-31AAD03009BB}</a:tableStyleId>
              </a:tblPr>
              <a:tblGrid>
                <a:gridCol w="1941450"/>
                <a:gridCol w="1941450"/>
                <a:gridCol w="1941450"/>
                <a:gridCol w="1941450"/>
              </a:tblGrid>
              <a:tr h="381000">
                <a:tc>
                  <a:txBody>
                    <a:bodyPr/>
                    <a:lstStyle/>
                    <a:p>
                      <a:pPr indent="0" lvl="0" marL="0" rtl="0" algn="l">
                        <a:spcBef>
                          <a:spcPts val="0"/>
                        </a:spcBef>
                        <a:spcAft>
                          <a:spcPts val="0"/>
                        </a:spcAft>
                        <a:buNone/>
                      </a:pPr>
                      <a:r>
                        <a:t/>
                      </a:r>
                      <a:endParaRPr>
                        <a:solidFill>
                          <a:schemeClr val="dk1"/>
                        </a:solidFill>
                        <a:latin typeface="Oswald"/>
                        <a:ea typeface="Oswald"/>
                        <a:cs typeface="Oswald"/>
                        <a:sym typeface="Oswald"/>
                      </a:endParaRPr>
                    </a:p>
                  </a:txBody>
                  <a:tcPr marT="91425" marB="91425" marR="91425" marL="91425"/>
                </a:tc>
                <a:tc>
                  <a:txBody>
                    <a:bodyPr/>
                    <a:lstStyle/>
                    <a:p>
                      <a:pPr indent="0" lvl="0" marL="0" rtl="0" algn="l">
                        <a:spcBef>
                          <a:spcPts val="0"/>
                        </a:spcBef>
                        <a:spcAft>
                          <a:spcPts val="0"/>
                        </a:spcAft>
                        <a:buNone/>
                      </a:pPr>
                      <a:r>
                        <a:rPr lang="en">
                          <a:solidFill>
                            <a:schemeClr val="dk1"/>
                          </a:solidFill>
                          <a:latin typeface="Oswald"/>
                          <a:ea typeface="Oswald"/>
                          <a:cs typeface="Oswald"/>
                          <a:sym typeface="Oswald"/>
                        </a:rPr>
                        <a:t>Kernel Optimizer (Gaussian)</a:t>
                      </a:r>
                      <a:endParaRPr>
                        <a:solidFill>
                          <a:schemeClr val="dk1"/>
                        </a:solidFill>
                        <a:latin typeface="Oswald"/>
                        <a:ea typeface="Oswald"/>
                        <a:cs typeface="Oswald"/>
                        <a:sym typeface="Oswald"/>
                      </a:endParaRPr>
                    </a:p>
                  </a:txBody>
                  <a:tcPr marT="91425" marB="91425" marR="91425" marL="91425"/>
                </a:tc>
                <a:tc>
                  <a:txBody>
                    <a:bodyPr/>
                    <a:lstStyle/>
                    <a:p>
                      <a:pPr indent="0" lvl="0" marL="0" rtl="0" algn="l">
                        <a:spcBef>
                          <a:spcPts val="0"/>
                        </a:spcBef>
                        <a:spcAft>
                          <a:spcPts val="0"/>
                        </a:spcAft>
                        <a:buNone/>
                      </a:pPr>
                      <a:r>
                        <a:rPr lang="en">
                          <a:solidFill>
                            <a:schemeClr val="dk1"/>
                          </a:solidFill>
                          <a:latin typeface="Oswald"/>
                          <a:ea typeface="Oswald"/>
                          <a:cs typeface="Oswald"/>
                          <a:sym typeface="Oswald"/>
                        </a:rPr>
                        <a:t>SRCNN</a:t>
                      </a:r>
                      <a:endParaRPr>
                        <a:solidFill>
                          <a:schemeClr val="dk1"/>
                        </a:solidFill>
                        <a:latin typeface="Oswald"/>
                        <a:ea typeface="Oswald"/>
                        <a:cs typeface="Oswald"/>
                        <a:sym typeface="Oswald"/>
                      </a:endParaRPr>
                    </a:p>
                  </a:txBody>
                  <a:tcPr marT="91425" marB="91425" marR="91425" marL="91425"/>
                </a:tc>
                <a:tc>
                  <a:txBody>
                    <a:bodyPr/>
                    <a:lstStyle/>
                    <a:p>
                      <a:pPr indent="0" lvl="0" marL="0" rtl="0" algn="l">
                        <a:spcBef>
                          <a:spcPts val="0"/>
                        </a:spcBef>
                        <a:spcAft>
                          <a:spcPts val="0"/>
                        </a:spcAft>
                        <a:buNone/>
                      </a:pPr>
                      <a:r>
                        <a:rPr lang="en">
                          <a:solidFill>
                            <a:schemeClr val="dk1"/>
                          </a:solidFill>
                          <a:latin typeface="Oswald"/>
                          <a:ea typeface="Oswald"/>
                          <a:cs typeface="Oswald"/>
                          <a:sym typeface="Oswald"/>
                        </a:rPr>
                        <a:t>Improvement</a:t>
                      </a:r>
                      <a:endParaRPr>
                        <a:solidFill>
                          <a:schemeClr val="dk1"/>
                        </a:solidFill>
                        <a:latin typeface="Oswald"/>
                        <a:ea typeface="Oswald"/>
                        <a:cs typeface="Oswald"/>
                        <a:sym typeface="Oswald"/>
                      </a:endParaRPr>
                    </a:p>
                  </a:txBody>
                  <a:tcPr marT="91425" marB="91425" marR="91425" marL="91425"/>
                </a:tc>
              </a:tr>
              <a:tr h="381000">
                <a:tc>
                  <a:txBody>
                    <a:bodyPr/>
                    <a:lstStyle/>
                    <a:p>
                      <a:pPr indent="0" lvl="0" marL="0" rtl="0" algn="l">
                        <a:spcBef>
                          <a:spcPts val="0"/>
                        </a:spcBef>
                        <a:spcAft>
                          <a:spcPts val="0"/>
                        </a:spcAft>
                        <a:buNone/>
                      </a:pPr>
                      <a:r>
                        <a:rPr lang="en">
                          <a:solidFill>
                            <a:schemeClr val="dk1"/>
                          </a:solidFill>
                          <a:latin typeface="Oswald"/>
                          <a:ea typeface="Oswald"/>
                          <a:cs typeface="Oswald"/>
                          <a:sym typeface="Oswald"/>
                        </a:rPr>
                        <a:t>PSNR</a:t>
                      </a:r>
                      <a:endParaRPr>
                        <a:solidFill>
                          <a:schemeClr val="dk1"/>
                        </a:solidFill>
                        <a:latin typeface="Oswald"/>
                        <a:ea typeface="Oswald"/>
                        <a:cs typeface="Oswald"/>
                        <a:sym typeface="Oswald"/>
                      </a:endParaRPr>
                    </a:p>
                  </a:txBody>
                  <a:tcPr marT="91425" marB="91425" marR="91425" marL="91425"/>
                </a:tc>
                <a:tc>
                  <a:txBody>
                    <a:bodyPr/>
                    <a:lstStyle/>
                    <a:p>
                      <a:pPr indent="0" lvl="0" marL="0" rtl="0" algn="l">
                        <a:spcBef>
                          <a:spcPts val="0"/>
                        </a:spcBef>
                        <a:spcAft>
                          <a:spcPts val="0"/>
                        </a:spcAft>
                        <a:buNone/>
                      </a:pPr>
                      <a:r>
                        <a:rPr lang="en">
                          <a:solidFill>
                            <a:schemeClr val="dk1"/>
                          </a:solidFill>
                          <a:latin typeface="Oswald"/>
                          <a:ea typeface="Oswald"/>
                          <a:cs typeface="Oswald"/>
                          <a:sym typeface="Oswald"/>
                        </a:rPr>
                        <a:t>28.78 dB</a:t>
                      </a:r>
                      <a:endParaRPr>
                        <a:solidFill>
                          <a:schemeClr val="dk1"/>
                        </a:solidFill>
                        <a:latin typeface="Oswald"/>
                        <a:ea typeface="Oswald"/>
                        <a:cs typeface="Oswald"/>
                        <a:sym typeface="Oswald"/>
                      </a:endParaRPr>
                    </a:p>
                  </a:txBody>
                  <a:tcPr marT="91425" marB="91425" marR="91425" marL="91425"/>
                </a:tc>
                <a:tc>
                  <a:txBody>
                    <a:bodyPr/>
                    <a:lstStyle/>
                    <a:p>
                      <a:pPr indent="0" lvl="0" marL="0" rtl="0" algn="l">
                        <a:spcBef>
                          <a:spcPts val="0"/>
                        </a:spcBef>
                        <a:spcAft>
                          <a:spcPts val="0"/>
                        </a:spcAft>
                        <a:buNone/>
                      </a:pPr>
                      <a:r>
                        <a:rPr lang="en">
                          <a:solidFill>
                            <a:schemeClr val="dk1"/>
                          </a:solidFill>
                          <a:latin typeface="Oswald"/>
                          <a:ea typeface="Oswald"/>
                          <a:cs typeface="Oswald"/>
                          <a:sym typeface="Oswald"/>
                        </a:rPr>
                        <a:t>37.74 dB</a:t>
                      </a:r>
                      <a:endParaRPr>
                        <a:solidFill>
                          <a:schemeClr val="dk1"/>
                        </a:solidFill>
                        <a:latin typeface="Oswald"/>
                        <a:ea typeface="Oswald"/>
                        <a:cs typeface="Oswald"/>
                        <a:sym typeface="Oswald"/>
                      </a:endParaRPr>
                    </a:p>
                  </a:txBody>
                  <a:tcPr marT="91425" marB="91425" marR="91425" marL="91425"/>
                </a:tc>
                <a:tc>
                  <a:txBody>
                    <a:bodyPr/>
                    <a:lstStyle/>
                    <a:p>
                      <a:pPr indent="0" lvl="0" marL="0" rtl="0" algn="l">
                        <a:spcBef>
                          <a:spcPts val="0"/>
                        </a:spcBef>
                        <a:spcAft>
                          <a:spcPts val="0"/>
                        </a:spcAft>
                        <a:buNone/>
                      </a:pPr>
                      <a:r>
                        <a:rPr lang="en">
                          <a:solidFill>
                            <a:schemeClr val="dk1"/>
                          </a:solidFill>
                          <a:latin typeface="Oswald"/>
                          <a:ea typeface="Oswald"/>
                          <a:cs typeface="Oswald"/>
                          <a:sym typeface="Oswald"/>
                        </a:rPr>
                        <a:t>8.96 dB</a:t>
                      </a:r>
                      <a:endParaRPr>
                        <a:solidFill>
                          <a:schemeClr val="dk1"/>
                        </a:solidFill>
                        <a:latin typeface="Oswald"/>
                        <a:ea typeface="Oswald"/>
                        <a:cs typeface="Oswald"/>
                        <a:sym typeface="Oswald"/>
                      </a:endParaRPr>
                    </a:p>
                  </a:txBody>
                  <a:tcPr marT="91425" marB="91425" marR="91425" marL="91425"/>
                </a:tc>
              </a:tr>
              <a:tr h="381000">
                <a:tc>
                  <a:txBody>
                    <a:bodyPr/>
                    <a:lstStyle/>
                    <a:p>
                      <a:pPr indent="0" lvl="0" marL="0" rtl="0" algn="l">
                        <a:spcBef>
                          <a:spcPts val="0"/>
                        </a:spcBef>
                        <a:spcAft>
                          <a:spcPts val="0"/>
                        </a:spcAft>
                        <a:buNone/>
                      </a:pPr>
                      <a:r>
                        <a:rPr lang="en">
                          <a:solidFill>
                            <a:schemeClr val="dk1"/>
                          </a:solidFill>
                          <a:latin typeface="Oswald"/>
                          <a:ea typeface="Oswald"/>
                          <a:cs typeface="Oswald"/>
                          <a:sym typeface="Oswald"/>
                        </a:rPr>
                        <a:t>SSIM</a:t>
                      </a:r>
                      <a:endParaRPr>
                        <a:solidFill>
                          <a:schemeClr val="dk1"/>
                        </a:solidFill>
                        <a:latin typeface="Oswald"/>
                        <a:ea typeface="Oswald"/>
                        <a:cs typeface="Oswald"/>
                        <a:sym typeface="Oswald"/>
                      </a:endParaRPr>
                    </a:p>
                  </a:txBody>
                  <a:tcPr marT="91425" marB="91425" marR="91425" marL="91425"/>
                </a:tc>
                <a:tc>
                  <a:txBody>
                    <a:bodyPr/>
                    <a:lstStyle/>
                    <a:p>
                      <a:pPr indent="0" lvl="0" marL="0" rtl="0" algn="l">
                        <a:spcBef>
                          <a:spcPts val="0"/>
                        </a:spcBef>
                        <a:spcAft>
                          <a:spcPts val="0"/>
                        </a:spcAft>
                        <a:buNone/>
                      </a:pPr>
                      <a:r>
                        <a:rPr lang="en">
                          <a:solidFill>
                            <a:schemeClr val="dk1"/>
                          </a:solidFill>
                          <a:latin typeface="Oswald"/>
                          <a:ea typeface="Oswald"/>
                          <a:cs typeface="Oswald"/>
                          <a:sym typeface="Oswald"/>
                        </a:rPr>
                        <a:t>0.8786</a:t>
                      </a:r>
                      <a:endParaRPr>
                        <a:solidFill>
                          <a:schemeClr val="dk1"/>
                        </a:solidFill>
                        <a:latin typeface="Oswald"/>
                        <a:ea typeface="Oswald"/>
                        <a:cs typeface="Oswald"/>
                        <a:sym typeface="Oswald"/>
                      </a:endParaRPr>
                    </a:p>
                  </a:txBody>
                  <a:tcPr marT="91425" marB="91425" marR="91425" marL="91425"/>
                </a:tc>
                <a:tc>
                  <a:txBody>
                    <a:bodyPr/>
                    <a:lstStyle/>
                    <a:p>
                      <a:pPr indent="0" lvl="0" marL="0" rtl="0" algn="l">
                        <a:spcBef>
                          <a:spcPts val="0"/>
                        </a:spcBef>
                        <a:spcAft>
                          <a:spcPts val="0"/>
                        </a:spcAft>
                        <a:buNone/>
                      </a:pPr>
                      <a:r>
                        <a:rPr lang="en">
                          <a:solidFill>
                            <a:schemeClr val="dk1"/>
                          </a:solidFill>
                          <a:latin typeface="Oswald"/>
                          <a:ea typeface="Oswald"/>
                          <a:cs typeface="Oswald"/>
                          <a:sym typeface="Oswald"/>
                        </a:rPr>
                        <a:t>0.9534</a:t>
                      </a:r>
                      <a:endParaRPr>
                        <a:solidFill>
                          <a:schemeClr val="dk1"/>
                        </a:solidFill>
                        <a:latin typeface="Oswald"/>
                        <a:ea typeface="Oswald"/>
                        <a:cs typeface="Oswald"/>
                        <a:sym typeface="Oswald"/>
                      </a:endParaRPr>
                    </a:p>
                  </a:txBody>
                  <a:tcPr marT="91425" marB="91425" marR="91425" marL="91425"/>
                </a:tc>
                <a:tc>
                  <a:txBody>
                    <a:bodyPr/>
                    <a:lstStyle/>
                    <a:p>
                      <a:pPr indent="0" lvl="0" marL="0" rtl="0" algn="l">
                        <a:spcBef>
                          <a:spcPts val="0"/>
                        </a:spcBef>
                        <a:spcAft>
                          <a:spcPts val="0"/>
                        </a:spcAft>
                        <a:buNone/>
                      </a:pPr>
                      <a:r>
                        <a:rPr lang="en">
                          <a:solidFill>
                            <a:schemeClr val="dk1"/>
                          </a:solidFill>
                          <a:latin typeface="Oswald"/>
                          <a:ea typeface="Oswald"/>
                          <a:cs typeface="Oswald"/>
                          <a:sym typeface="Oswald"/>
                        </a:rPr>
                        <a:t>0.0748</a:t>
                      </a:r>
                      <a:endParaRPr>
                        <a:solidFill>
                          <a:schemeClr val="dk1"/>
                        </a:solidFill>
                        <a:latin typeface="Oswald"/>
                        <a:ea typeface="Oswald"/>
                        <a:cs typeface="Oswald"/>
                        <a:sym typeface="Oswald"/>
                      </a:endParaRPr>
                    </a:p>
                  </a:txBody>
                  <a:tcPr marT="91425" marB="91425" marR="91425" marL="91425"/>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Next steps</a:t>
            </a:r>
            <a:endParaRPr/>
          </a:p>
        </p:txBody>
      </p:sp>
      <p:sp>
        <p:nvSpPr>
          <p:cNvPr id="162" name="Google Shape;162;p26"/>
          <p:cNvSpPr txBox="1"/>
          <p:nvPr>
            <p:ph idx="1" type="body"/>
          </p:nvPr>
        </p:nvSpPr>
        <p:spPr>
          <a:xfrm>
            <a:off x="195875" y="1152475"/>
            <a:ext cx="83922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Train / test across multiple slices: </a:t>
            </a:r>
            <a:r>
              <a:rPr lang="en"/>
              <a:t>so far, we have mostly been testing on a single slice to show proof of concept. Now we need to test across multiple slices</a:t>
            </a:r>
            <a:endParaRPr/>
          </a:p>
          <a:p>
            <a:pPr indent="-342900" lvl="0" marL="457200" rtl="0" algn="l">
              <a:spcBef>
                <a:spcPts val="0"/>
              </a:spcBef>
              <a:spcAft>
                <a:spcPts val="0"/>
              </a:spcAft>
              <a:buSzPts val="1800"/>
              <a:buChar char="●"/>
            </a:pPr>
            <a:r>
              <a:rPr b="1" lang="en"/>
              <a:t>Diffusion models:</a:t>
            </a:r>
            <a:r>
              <a:rPr lang="en"/>
              <a:t> see if replacing the warm-start neural network with  diffusion model improves reconstruction since diffusion models used in image generation</a:t>
            </a:r>
            <a:endParaRPr/>
          </a:p>
          <a:p>
            <a:pPr indent="-342900" lvl="0" marL="457200" rtl="0" algn="l">
              <a:spcBef>
                <a:spcPts val="0"/>
              </a:spcBef>
              <a:spcAft>
                <a:spcPts val="0"/>
              </a:spcAft>
              <a:buSzPts val="1800"/>
              <a:buChar char="●"/>
            </a:pPr>
            <a:r>
              <a:rPr b="1" lang="en"/>
              <a:t>Multi-image super resolution:</a:t>
            </a:r>
            <a:r>
              <a:rPr lang="en"/>
              <a:t> add context by considering the slices before/after the slice that is being reconstructed</a:t>
            </a:r>
            <a:endParaRPr/>
          </a:p>
          <a:p>
            <a:pPr indent="-342900" lvl="0" marL="457200" rtl="0" algn="l">
              <a:spcBef>
                <a:spcPts val="0"/>
              </a:spcBef>
              <a:spcAft>
                <a:spcPts val="0"/>
              </a:spcAft>
              <a:buSzPts val="1800"/>
              <a:buChar char="●"/>
            </a:pPr>
            <a:r>
              <a:rPr b="1" lang="en"/>
              <a:t>Images &amp; Videos</a:t>
            </a:r>
            <a:r>
              <a:rPr lang="en"/>
              <a:t>: try our reconstruction approaches on various images and videos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7"/>
          <p:cNvSpPr txBox="1"/>
          <p:nvPr>
            <p:ph type="title"/>
          </p:nvPr>
        </p:nvSpPr>
        <p:spPr>
          <a:xfrm>
            <a:off x="608300" y="2141250"/>
            <a:ext cx="7852200" cy="8610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Lightning Presentations: MRI Reconstruction</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Problem Statement &amp; Motivation</a:t>
            </a:r>
            <a:endParaRPr/>
          </a:p>
        </p:txBody>
      </p:sp>
      <p:sp>
        <p:nvSpPr>
          <p:cNvPr id="173" name="Google Shape;173;p28"/>
          <p:cNvSpPr txBox="1"/>
          <p:nvPr>
            <p:ph idx="1" type="body"/>
          </p:nvPr>
        </p:nvSpPr>
        <p:spPr>
          <a:xfrm>
            <a:off x="311700" y="1152475"/>
            <a:ext cx="41505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There are a lot of pixels in a typical MRI image, which means the machine has to send out a lot of radio-frequencies, which </a:t>
            </a:r>
            <a:r>
              <a:rPr b="1" lang="en"/>
              <a:t>takes a long time</a:t>
            </a:r>
            <a:r>
              <a:rPr lang="en"/>
              <a:t>. This is </a:t>
            </a:r>
            <a:r>
              <a:rPr b="1" lang="en"/>
              <a:t>expensive </a:t>
            </a:r>
            <a:r>
              <a:rPr lang="en"/>
              <a:t>for hospitals operating MRI machines and </a:t>
            </a:r>
            <a:r>
              <a:rPr b="1" lang="en"/>
              <a:t>uncomfortable </a:t>
            </a:r>
            <a:r>
              <a:rPr lang="en"/>
              <a:t>for patients, who have to stay still while images are taken.</a:t>
            </a:r>
            <a:endParaRPr/>
          </a:p>
          <a:p>
            <a:pPr indent="0" lvl="0" marL="0" rtl="0" algn="l">
              <a:spcBef>
                <a:spcPts val="1200"/>
              </a:spcBef>
              <a:spcAft>
                <a:spcPts val="1200"/>
              </a:spcAft>
              <a:buNone/>
            </a:pPr>
            <a:r>
              <a:t/>
            </a:r>
            <a:endParaRPr/>
          </a:p>
        </p:txBody>
      </p:sp>
      <p:sp>
        <p:nvSpPr>
          <p:cNvPr id="174" name="Google Shape;174;p28"/>
          <p:cNvSpPr txBox="1"/>
          <p:nvPr/>
        </p:nvSpPr>
        <p:spPr>
          <a:xfrm>
            <a:off x="433450" y="3727825"/>
            <a:ext cx="3656100" cy="107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300">
                <a:solidFill>
                  <a:schemeClr val="accent3"/>
                </a:solidFill>
                <a:latin typeface="Average"/>
                <a:ea typeface="Average"/>
                <a:cs typeface="Average"/>
                <a:sym typeface="Average"/>
              </a:rPr>
              <a:t>Shorter scan times = more accessible treatment</a:t>
            </a:r>
            <a:endParaRPr sz="2300">
              <a:solidFill>
                <a:schemeClr val="accent3"/>
              </a:solidFill>
              <a:latin typeface="Average"/>
              <a:ea typeface="Average"/>
              <a:cs typeface="Average"/>
              <a:sym typeface="Average"/>
            </a:endParaRPr>
          </a:p>
        </p:txBody>
      </p:sp>
      <p:pic>
        <p:nvPicPr>
          <p:cNvPr id="175" name="Google Shape;175;p28" title="how-an-mri-works-5b2d2621325a6.jpg"/>
          <p:cNvPicPr preferRelativeResize="0"/>
          <p:nvPr/>
        </p:nvPicPr>
        <p:blipFill>
          <a:blip r:embed="rId3">
            <a:alphaModFix/>
          </a:blip>
          <a:stretch>
            <a:fillRect/>
          </a:stretch>
        </p:blipFill>
        <p:spPr>
          <a:xfrm>
            <a:off x="4761450" y="344975"/>
            <a:ext cx="3699850" cy="44535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CCCCCC"/>
        </a:solidFill>
      </p:bgPr>
    </p:bg>
    <p:spTree>
      <p:nvGrpSpPr>
        <p:cNvPr id="179" name="Shape 179"/>
        <p:cNvGrpSpPr/>
        <p:nvPr/>
      </p:nvGrpSpPr>
      <p:grpSpPr>
        <a:xfrm>
          <a:off x="0" y="0"/>
          <a:ext cx="0" cy="0"/>
          <a:chOff x="0" y="0"/>
          <a:chExt cx="0" cy="0"/>
        </a:xfrm>
      </p:grpSpPr>
      <p:sp>
        <p:nvSpPr>
          <p:cNvPr id="180" name="Google Shape;180;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666666"/>
                </a:solidFill>
              </a:rPr>
              <a:t>Technical Approach</a:t>
            </a:r>
            <a:endParaRPr>
              <a:solidFill>
                <a:srgbClr val="666666"/>
              </a:solidFill>
            </a:endParaRPr>
          </a:p>
        </p:txBody>
      </p:sp>
      <p:sp>
        <p:nvSpPr>
          <p:cNvPr id="181" name="Google Shape;181;p29"/>
          <p:cNvSpPr txBox="1"/>
          <p:nvPr>
            <p:ph idx="1" type="body"/>
          </p:nvPr>
        </p:nvSpPr>
        <p:spPr>
          <a:xfrm>
            <a:off x="311700" y="1017725"/>
            <a:ext cx="8559600" cy="385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434343"/>
                </a:solidFill>
              </a:rPr>
              <a:t>A = MF</a:t>
            </a:r>
            <a:endParaRPr>
              <a:solidFill>
                <a:srgbClr val="434343"/>
              </a:solidFill>
            </a:endParaRPr>
          </a:p>
          <a:p>
            <a:pPr indent="-342900" lvl="0" marL="457200" rtl="0" algn="l">
              <a:spcBef>
                <a:spcPts val="1200"/>
              </a:spcBef>
              <a:spcAft>
                <a:spcPts val="0"/>
              </a:spcAft>
              <a:buClr>
                <a:srgbClr val="434343"/>
              </a:buClr>
              <a:buSzPts val="1800"/>
              <a:buChar char="●"/>
            </a:pPr>
            <a:r>
              <a:rPr lang="en">
                <a:solidFill>
                  <a:srgbClr val="434343"/>
                </a:solidFill>
              </a:rPr>
              <a:t>M = Diagonal Matrix (entries are 1 if frequency is being measured, 0 if not)</a:t>
            </a:r>
            <a:endParaRPr>
              <a:solidFill>
                <a:srgbClr val="434343"/>
              </a:solidFill>
            </a:endParaRPr>
          </a:p>
          <a:p>
            <a:pPr indent="-342900" lvl="0" marL="457200" rtl="0" algn="l">
              <a:spcBef>
                <a:spcPts val="0"/>
              </a:spcBef>
              <a:spcAft>
                <a:spcPts val="0"/>
              </a:spcAft>
              <a:buClr>
                <a:srgbClr val="434343"/>
              </a:buClr>
              <a:buSzPts val="1800"/>
              <a:buChar char="●"/>
            </a:pPr>
            <a:r>
              <a:rPr lang="en">
                <a:solidFill>
                  <a:srgbClr val="434343"/>
                </a:solidFill>
              </a:rPr>
              <a:t>F = Discrete Fourier Transform</a:t>
            </a:r>
            <a:endParaRPr>
              <a:solidFill>
                <a:srgbClr val="434343"/>
              </a:solidFill>
            </a:endParaRPr>
          </a:p>
          <a:p>
            <a:pPr indent="0" lvl="0" marL="0" rtl="0" algn="l">
              <a:spcBef>
                <a:spcPts val="1200"/>
              </a:spcBef>
              <a:spcAft>
                <a:spcPts val="0"/>
              </a:spcAft>
              <a:buNone/>
            </a:pPr>
            <a:r>
              <a:rPr lang="en">
                <a:solidFill>
                  <a:srgbClr val="434343"/>
                </a:solidFill>
              </a:rPr>
              <a:t>Given observed undersampled k-space data </a:t>
            </a:r>
            <a:r>
              <a:rPr i="1" lang="en">
                <a:solidFill>
                  <a:srgbClr val="434343"/>
                </a:solidFill>
              </a:rPr>
              <a:t>y_obs,</a:t>
            </a:r>
            <a:r>
              <a:rPr lang="en">
                <a:solidFill>
                  <a:srgbClr val="434343"/>
                </a:solidFill>
              </a:rPr>
              <a:t> we are looking for 𝛼 that solves</a:t>
            </a:r>
            <a:endParaRPr>
              <a:solidFill>
                <a:srgbClr val="434343"/>
              </a:solidFill>
            </a:endParaRPr>
          </a:p>
          <a:p>
            <a:pPr indent="0" lvl="0" marL="0" rtl="0" algn="l">
              <a:spcBef>
                <a:spcPts val="1200"/>
              </a:spcBef>
              <a:spcAft>
                <a:spcPts val="0"/>
              </a:spcAft>
              <a:buNone/>
            </a:pPr>
            <a:r>
              <a:t/>
            </a:r>
            <a:endParaRPr>
              <a:solidFill>
                <a:srgbClr val="434343"/>
              </a:solidFill>
            </a:endParaRPr>
          </a:p>
          <a:p>
            <a:pPr indent="0" lvl="0" marL="0" rtl="0" algn="l">
              <a:spcBef>
                <a:spcPts val="1200"/>
              </a:spcBef>
              <a:spcAft>
                <a:spcPts val="0"/>
              </a:spcAft>
              <a:buNone/>
            </a:pPr>
            <a:r>
              <a:t/>
            </a:r>
            <a:endParaRPr>
              <a:solidFill>
                <a:srgbClr val="434343"/>
              </a:solidFill>
            </a:endParaRPr>
          </a:p>
          <a:p>
            <a:pPr indent="0" lvl="0" marL="0" rtl="0" algn="l">
              <a:spcBef>
                <a:spcPts val="1200"/>
              </a:spcBef>
              <a:spcAft>
                <a:spcPts val="1200"/>
              </a:spcAft>
              <a:buNone/>
            </a:pPr>
            <a:r>
              <a:rPr lang="en">
                <a:solidFill>
                  <a:srgbClr val="434343"/>
                </a:solidFill>
              </a:rPr>
              <a:t>There are many possible solutions, so we restrict the reconstruction to a class of kernel basis functions for uniqueness. We start with </a:t>
            </a:r>
            <a:r>
              <a:rPr b="1" lang="en">
                <a:solidFill>
                  <a:srgbClr val="434343"/>
                </a:solidFill>
              </a:rPr>
              <a:t>Gaussian and LaPlacian kernels</a:t>
            </a:r>
            <a:r>
              <a:rPr lang="en">
                <a:solidFill>
                  <a:srgbClr val="434343"/>
                </a:solidFill>
              </a:rPr>
              <a:t>.</a:t>
            </a:r>
            <a:endParaRPr>
              <a:solidFill>
                <a:srgbClr val="434343"/>
              </a:solidFill>
            </a:endParaRPr>
          </a:p>
        </p:txBody>
      </p:sp>
      <p:pic>
        <p:nvPicPr>
          <p:cNvPr id="182" name="Google Shape;182;p29"/>
          <p:cNvPicPr preferRelativeResize="0"/>
          <p:nvPr/>
        </p:nvPicPr>
        <p:blipFill>
          <a:blip r:embed="rId3">
            <a:alphaModFix/>
          </a:blip>
          <a:stretch>
            <a:fillRect/>
          </a:stretch>
        </p:blipFill>
        <p:spPr>
          <a:xfrm>
            <a:off x="2478075" y="3047425"/>
            <a:ext cx="3555513" cy="5727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0"/>
          <p:cNvSpPr txBox="1"/>
          <p:nvPr>
            <p:ph type="title"/>
          </p:nvPr>
        </p:nvSpPr>
        <p:spPr>
          <a:xfrm>
            <a:off x="246150" y="2479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Initial Results pt. 1</a:t>
            </a:r>
            <a:endParaRPr/>
          </a:p>
        </p:txBody>
      </p:sp>
      <p:sp>
        <p:nvSpPr>
          <p:cNvPr id="188" name="Google Shape;188;p30"/>
          <p:cNvSpPr txBox="1"/>
          <p:nvPr>
            <p:ph idx="1" type="body"/>
          </p:nvPr>
        </p:nvSpPr>
        <p:spPr>
          <a:xfrm>
            <a:off x="1583550" y="4443050"/>
            <a:ext cx="5845800" cy="572700"/>
          </a:xfrm>
          <a:prstGeom prst="rect">
            <a:avLst/>
          </a:prstGeom>
          <a:ln cap="flat" cmpd="sng" w="9525">
            <a:solidFill>
              <a:schemeClr val="dk2"/>
            </a:solidFill>
            <a:prstDash val="solid"/>
            <a:round/>
            <a:headEnd len="sm" w="sm" type="none"/>
            <a:tailEnd len="sm" w="sm" type="none"/>
          </a:ln>
        </p:spPr>
        <p:txBody>
          <a:bodyPr anchorCtr="0" anchor="t" bIns="91425" lIns="91425" spcFirstLastPara="1" rIns="91425" wrap="square" tIns="91425">
            <a:normAutofit/>
          </a:bodyPr>
          <a:lstStyle/>
          <a:p>
            <a:pPr indent="0" lvl="0" marL="0" rtl="0" algn="ctr">
              <a:spcBef>
                <a:spcPts val="0"/>
              </a:spcBef>
              <a:spcAft>
                <a:spcPts val="1200"/>
              </a:spcAft>
              <a:buNone/>
            </a:pPr>
            <a:r>
              <a:rPr lang="en"/>
              <a:t>Gaussian kernel reconstruction provides highest clarity.</a:t>
            </a:r>
            <a:endParaRPr/>
          </a:p>
        </p:txBody>
      </p:sp>
      <p:graphicFrame>
        <p:nvGraphicFramePr>
          <p:cNvPr id="189" name="Google Shape;189;p30"/>
          <p:cNvGraphicFramePr/>
          <p:nvPr/>
        </p:nvGraphicFramePr>
        <p:xfrm>
          <a:off x="234250" y="825313"/>
          <a:ext cx="3000000" cy="3000000"/>
        </p:xfrm>
        <a:graphic>
          <a:graphicData uri="http://schemas.openxmlformats.org/drawingml/2006/table">
            <a:tbl>
              <a:tblPr>
                <a:noFill/>
                <a:tableStyleId>{099C4B19-8DFC-4C2B-A7D9-31AAD03009BB}</a:tableStyleId>
              </a:tblPr>
              <a:tblGrid>
                <a:gridCol w="2168875"/>
                <a:gridCol w="2168875"/>
                <a:gridCol w="2168875"/>
                <a:gridCol w="2168875"/>
              </a:tblGrid>
              <a:tr h="369825">
                <a:tc>
                  <a:txBody>
                    <a:bodyPr/>
                    <a:lstStyle/>
                    <a:p>
                      <a:pPr indent="0" lvl="0" marL="0" rtl="0" algn="l">
                        <a:spcBef>
                          <a:spcPts val="0"/>
                        </a:spcBef>
                        <a:spcAft>
                          <a:spcPts val="0"/>
                        </a:spcAft>
                        <a:buNone/>
                      </a:pPr>
                      <a:r>
                        <a:rPr i="1" lang="en" sz="1600">
                          <a:solidFill>
                            <a:schemeClr val="dk1"/>
                          </a:solidFill>
                          <a:latin typeface="Oswald Light"/>
                          <a:ea typeface="Oswald Light"/>
                          <a:cs typeface="Oswald Light"/>
                          <a:sym typeface="Oswald Light"/>
                        </a:rPr>
                        <a:t>Metric</a:t>
                      </a:r>
                      <a:endParaRPr i="1" sz="1600">
                        <a:solidFill>
                          <a:schemeClr val="dk1"/>
                        </a:solidFill>
                        <a:latin typeface="Oswald Light"/>
                        <a:ea typeface="Oswald Light"/>
                        <a:cs typeface="Oswald Light"/>
                        <a:sym typeface="Oswald Light"/>
                      </a:endParaRPr>
                    </a:p>
                  </a:txBody>
                  <a:tcPr marT="91425" marB="91425" marR="91425" marL="91425">
                    <a:solidFill>
                      <a:schemeClr val="accent2"/>
                    </a:solidFill>
                  </a:tcPr>
                </a:tc>
                <a:tc>
                  <a:txBody>
                    <a:bodyPr/>
                    <a:lstStyle/>
                    <a:p>
                      <a:pPr indent="0" lvl="0" marL="0" rtl="0" algn="l">
                        <a:spcBef>
                          <a:spcPts val="0"/>
                        </a:spcBef>
                        <a:spcAft>
                          <a:spcPts val="0"/>
                        </a:spcAft>
                        <a:buNone/>
                      </a:pPr>
                      <a:r>
                        <a:rPr i="1" lang="en" sz="1600">
                          <a:solidFill>
                            <a:schemeClr val="dk1"/>
                          </a:solidFill>
                          <a:latin typeface="Oswald Light"/>
                          <a:ea typeface="Oswald Light"/>
                          <a:cs typeface="Oswald Light"/>
                          <a:sym typeface="Oswald Light"/>
                        </a:rPr>
                        <a:t>LaPlacian Kernels</a:t>
                      </a:r>
                      <a:endParaRPr i="1" sz="1600">
                        <a:solidFill>
                          <a:schemeClr val="dk1"/>
                        </a:solidFill>
                        <a:latin typeface="Oswald Light"/>
                        <a:ea typeface="Oswald Light"/>
                        <a:cs typeface="Oswald Light"/>
                        <a:sym typeface="Oswald Light"/>
                      </a:endParaRPr>
                    </a:p>
                  </a:txBody>
                  <a:tcPr marT="91425" marB="91425" marR="91425" marL="91425">
                    <a:solidFill>
                      <a:schemeClr val="accent2"/>
                    </a:solidFill>
                  </a:tcPr>
                </a:tc>
                <a:tc>
                  <a:txBody>
                    <a:bodyPr/>
                    <a:lstStyle/>
                    <a:p>
                      <a:pPr indent="0" lvl="0" marL="0" rtl="0" algn="l">
                        <a:spcBef>
                          <a:spcPts val="0"/>
                        </a:spcBef>
                        <a:spcAft>
                          <a:spcPts val="0"/>
                        </a:spcAft>
                        <a:buNone/>
                      </a:pPr>
                      <a:r>
                        <a:rPr i="1" lang="en" sz="1600">
                          <a:solidFill>
                            <a:schemeClr val="dk1"/>
                          </a:solidFill>
                          <a:latin typeface="Oswald Light"/>
                          <a:ea typeface="Oswald Light"/>
                          <a:cs typeface="Oswald Light"/>
                          <a:sym typeface="Oswald Light"/>
                        </a:rPr>
                        <a:t>Gaussian Kernels</a:t>
                      </a:r>
                      <a:endParaRPr i="1" sz="1600">
                        <a:solidFill>
                          <a:schemeClr val="dk1"/>
                        </a:solidFill>
                        <a:latin typeface="Oswald Light"/>
                        <a:ea typeface="Oswald Light"/>
                        <a:cs typeface="Oswald Light"/>
                        <a:sym typeface="Oswald Light"/>
                      </a:endParaRPr>
                    </a:p>
                  </a:txBody>
                  <a:tcPr marT="91425" marB="91425" marR="91425" marL="91425">
                    <a:solidFill>
                      <a:schemeClr val="accent2"/>
                    </a:solidFill>
                  </a:tcPr>
                </a:tc>
                <a:tc>
                  <a:txBody>
                    <a:bodyPr/>
                    <a:lstStyle/>
                    <a:p>
                      <a:pPr indent="0" lvl="0" marL="0" rtl="0" algn="l">
                        <a:spcBef>
                          <a:spcPts val="0"/>
                        </a:spcBef>
                        <a:spcAft>
                          <a:spcPts val="0"/>
                        </a:spcAft>
                        <a:buNone/>
                      </a:pPr>
                      <a:r>
                        <a:rPr i="1" lang="en" sz="1600">
                          <a:solidFill>
                            <a:schemeClr val="dk1"/>
                          </a:solidFill>
                          <a:latin typeface="Oswald Light"/>
                          <a:ea typeface="Oswald Light"/>
                          <a:cs typeface="Oswald Light"/>
                          <a:sym typeface="Oswald Light"/>
                        </a:rPr>
                        <a:t>Zero-Filled FFT</a:t>
                      </a:r>
                      <a:endParaRPr i="1" sz="1600">
                        <a:solidFill>
                          <a:schemeClr val="dk1"/>
                        </a:solidFill>
                        <a:latin typeface="Oswald Light"/>
                        <a:ea typeface="Oswald Light"/>
                        <a:cs typeface="Oswald Light"/>
                        <a:sym typeface="Oswald Light"/>
                      </a:endParaRPr>
                    </a:p>
                  </a:txBody>
                  <a:tcPr marT="91425" marB="91425" marR="91425" marL="91425">
                    <a:solidFill>
                      <a:schemeClr val="accent2"/>
                    </a:solidFill>
                  </a:tcPr>
                </a:tc>
              </a:tr>
              <a:tr h="369825">
                <a:tc>
                  <a:txBody>
                    <a:bodyPr/>
                    <a:lstStyle/>
                    <a:p>
                      <a:pPr indent="0" lvl="0" marL="0" rtl="0" algn="l">
                        <a:spcBef>
                          <a:spcPts val="0"/>
                        </a:spcBef>
                        <a:spcAft>
                          <a:spcPts val="0"/>
                        </a:spcAft>
                        <a:buNone/>
                      </a:pPr>
                      <a:r>
                        <a:rPr i="1" lang="en" sz="1600">
                          <a:solidFill>
                            <a:schemeClr val="dk1"/>
                          </a:solidFill>
                          <a:latin typeface="Oswald Light"/>
                          <a:ea typeface="Oswald Light"/>
                          <a:cs typeface="Oswald Light"/>
                          <a:sym typeface="Oswald Light"/>
                        </a:rPr>
                        <a:t>MSE</a:t>
                      </a:r>
                      <a:endParaRPr i="1" sz="1600">
                        <a:solidFill>
                          <a:schemeClr val="dk1"/>
                        </a:solidFill>
                        <a:latin typeface="Oswald Light"/>
                        <a:ea typeface="Oswald Light"/>
                        <a:cs typeface="Oswald Light"/>
                        <a:sym typeface="Oswald Light"/>
                      </a:endParaRPr>
                    </a:p>
                  </a:txBody>
                  <a:tcPr marT="91425" marB="91425" marR="91425" marL="91425"/>
                </a:tc>
                <a:tc>
                  <a:txBody>
                    <a:bodyPr/>
                    <a:lstStyle/>
                    <a:p>
                      <a:pPr indent="0" lvl="0" marL="0" rtl="0" algn="l">
                        <a:spcBef>
                          <a:spcPts val="0"/>
                        </a:spcBef>
                        <a:spcAft>
                          <a:spcPts val="0"/>
                        </a:spcAft>
                        <a:buNone/>
                      </a:pPr>
                      <a:r>
                        <a:rPr lang="en" sz="1600">
                          <a:solidFill>
                            <a:schemeClr val="dk1"/>
                          </a:solidFill>
                          <a:latin typeface="Oswald Light"/>
                          <a:ea typeface="Oswald Light"/>
                          <a:cs typeface="Oswald Light"/>
                          <a:sym typeface="Oswald Light"/>
                        </a:rPr>
                        <a:t>0.0186</a:t>
                      </a:r>
                      <a:endParaRPr sz="1600">
                        <a:solidFill>
                          <a:schemeClr val="dk1"/>
                        </a:solidFill>
                        <a:latin typeface="Oswald Light"/>
                        <a:ea typeface="Oswald Light"/>
                        <a:cs typeface="Oswald Light"/>
                        <a:sym typeface="Oswald Light"/>
                      </a:endParaRPr>
                    </a:p>
                  </a:txBody>
                  <a:tcPr marT="91425" marB="91425" marR="91425" marL="91425"/>
                </a:tc>
                <a:tc>
                  <a:txBody>
                    <a:bodyPr/>
                    <a:lstStyle/>
                    <a:p>
                      <a:pPr indent="0" lvl="0" marL="0" rtl="0" algn="l">
                        <a:spcBef>
                          <a:spcPts val="0"/>
                        </a:spcBef>
                        <a:spcAft>
                          <a:spcPts val="0"/>
                        </a:spcAft>
                        <a:buNone/>
                      </a:pPr>
                      <a:r>
                        <a:rPr lang="en" sz="1600">
                          <a:solidFill>
                            <a:schemeClr val="dk1"/>
                          </a:solidFill>
                          <a:latin typeface="Oswald Light"/>
                          <a:ea typeface="Oswald Light"/>
                          <a:cs typeface="Oswald Light"/>
                          <a:sym typeface="Oswald Light"/>
                        </a:rPr>
                        <a:t>0.00529</a:t>
                      </a:r>
                      <a:endParaRPr sz="1600">
                        <a:solidFill>
                          <a:schemeClr val="dk1"/>
                        </a:solidFill>
                        <a:latin typeface="Oswald Light"/>
                        <a:ea typeface="Oswald Light"/>
                        <a:cs typeface="Oswald Light"/>
                        <a:sym typeface="Oswald Light"/>
                      </a:endParaRPr>
                    </a:p>
                  </a:txBody>
                  <a:tcPr marT="91425" marB="91425" marR="91425" marL="91425"/>
                </a:tc>
                <a:tc>
                  <a:txBody>
                    <a:bodyPr/>
                    <a:lstStyle/>
                    <a:p>
                      <a:pPr indent="0" lvl="0" marL="0" rtl="0" algn="l">
                        <a:lnSpc>
                          <a:spcPct val="115000"/>
                        </a:lnSpc>
                        <a:spcBef>
                          <a:spcPts val="0"/>
                        </a:spcBef>
                        <a:spcAft>
                          <a:spcPts val="1200"/>
                        </a:spcAft>
                        <a:buNone/>
                      </a:pPr>
                      <a:r>
                        <a:rPr lang="en" sz="1600">
                          <a:solidFill>
                            <a:schemeClr val="dk1"/>
                          </a:solidFill>
                          <a:latin typeface="Oswald Light"/>
                          <a:ea typeface="Oswald Light"/>
                          <a:cs typeface="Oswald Light"/>
                          <a:sym typeface="Oswald Light"/>
                        </a:rPr>
                        <a:t>0.010049</a:t>
                      </a:r>
                      <a:endParaRPr sz="1600">
                        <a:solidFill>
                          <a:schemeClr val="dk1"/>
                        </a:solidFill>
                        <a:latin typeface="Oswald Light"/>
                        <a:ea typeface="Oswald Light"/>
                        <a:cs typeface="Oswald Light"/>
                        <a:sym typeface="Oswald Light"/>
                      </a:endParaRPr>
                    </a:p>
                  </a:txBody>
                  <a:tcPr marT="91425" marB="91425" marR="91425" marL="91425"/>
                </a:tc>
              </a:tr>
              <a:tr h="369825">
                <a:tc>
                  <a:txBody>
                    <a:bodyPr/>
                    <a:lstStyle/>
                    <a:p>
                      <a:pPr indent="0" lvl="0" marL="0" rtl="0" algn="l">
                        <a:spcBef>
                          <a:spcPts val="0"/>
                        </a:spcBef>
                        <a:spcAft>
                          <a:spcPts val="0"/>
                        </a:spcAft>
                        <a:buNone/>
                      </a:pPr>
                      <a:r>
                        <a:rPr i="1" lang="en" sz="1600">
                          <a:solidFill>
                            <a:schemeClr val="dk1"/>
                          </a:solidFill>
                          <a:latin typeface="Oswald Light"/>
                          <a:ea typeface="Oswald Light"/>
                          <a:cs typeface="Oswald Light"/>
                          <a:sym typeface="Oswald Light"/>
                        </a:rPr>
                        <a:t>PSNR</a:t>
                      </a:r>
                      <a:endParaRPr i="1" sz="1600">
                        <a:solidFill>
                          <a:schemeClr val="dk1"/>
                        </a:solidFill>
                        <a:latin typeface="Oswald Light"/>
                        <a:ea typeface="Oswald Light"/>
                        <a:cs typeface="Oswald Light"/>
                        <a:sym typeface="Oswald Light"/>
                      </a:endParaRPr>
                    </a:p>
                  </a:txBody>
                  <a:tcPr marT="91425" marB="91425" marR="91425" marL="91425"/>
                </a:tc>
                <a:tc>
                  <a:txBody>
                    <a:bodyPr/>
                    <a:lstStyle/>
                    <a:p>
                      <a:pPr indent="0" lvl="0" marL="0" rtl="0" algn="l">
                        <a:spcBef>
                          <a:spcPts val="0"/>
                        </a:spcBef>
                        <a:spcAft>
                          <a:spcPts val="0"/>
                        </a:spcAft>
                        <a:buNone/>
                      </a:pPr>
                      <a:r>
                        <a:rPr lang="en" sz="1600">
                          <a:solidFill>
                            <a:schemeClr val="dk1"/>
                          </a:solidFill>
                          <a:latin typeface="Oswald Light"/>
                          <a:ea typeface="Oswald Light"/>
                          <a:cs typeface="Oswald Light"/>
                          <a:sym typeface="Oswald Light"/>
                        </a:rPr>
                        <a:t>17.30 dB</a:t>
                      </a:r>
                      <a:endParaRPr sz="1600">
                        <a:solidFill>
                          <a:schemeClr val="dk1"/>
                        </a:solidFill>
                        <a:latin typeface="Oswald Light"/>
                        <a:ea typeface="Oswald Light"/>
                        <a:cs typeface="Oswald Light"/>
                        <a:sym typeface="Oswald Light"/>
                      </a:endParaRPr>
                    </a:p>
                  </a:txBody>
                  <a:tcPr marT="91425" marB="91425" marR="91425" marL="91425"/>
                </a:tc>
                <a:tc>
                  <a:txBody>
                    <a:bodyPr/>
                    <a:lstStyle/>
                    <a:p>
                      <a:pPr indent="0" lvl="0" marL="0" rtl="0" algn="l">
                        <a:spcBef>
                          <a:spcPts val="0"/>
                        </a:spcBef>
                        <a:spcAft>
                          <a:spcPts val="0"/>
                        </a:spcAft>
                        <a:buNone/>
                      </a:pPr>
                      <a:r>
                        <a:rPr lang="en" sz="1600">
                          <a:solidFill>
                            <a:schemeClr val="dk1"/>
                          </a:solidFill>
                          <a:latin typeface="Oswald Light"/>
                          <a:ea typeface="Oswald Light"/>
                          <a:cs typeface="Oswald Light"/>
                          <a:sym typeface="Oswald Light"/>
                        </a:rPr>
                        <a:t>22.78 dB</a:t>
                      </a:r>
                      <a:endParaRPr sz="1600">
                        <a:solidFill>
                          <a:schemeClr val="dk1"/>
                        </a:solidFill>
                        <a:latin typeface="Oswald Light"/>
                        <a:ea typeface="Oswald Light"/>
                        <a:cs typeface="Oswald Light"/>
                        <a:sym typeface="Oswald Light"/>
                      </a:endParaRPr>
                    </a:p>
                  </a:txBody>
                  <a:tcPr marT="91425" marB="91425" marR="91425" marL="91425"/>
                </a:tc>
                <a:tc>
                  <a:txBody>
                    <a:bodyPr/>
                    <a:lstStyle/>
                    <a:p>
                      <a:pPr indent="0" lvl="0" marL="0" rtl="0" algn="l">
                        <a:spcBef>
                          <a:spcPts val="0"/>
                        </a:spcBef>
                        <a:spcAft>
                          <a:spcPts val="0"/>
                        </a:spcAft>
                        <a:buNone/>
                      </a:pPr>
                      <a:r>
                        <a:rPr lang="en" sz="1600">
                          <a:solidFill>
                            <a:schemeClr val="dk1"/>
                          </a:solidFill>
                          <a:latin typeface="Oswald Light"/>
                          <a:ea typeface="Oswald Light"/>
                          <a:cs typeface="Oswald Light"/>
                          <a:sym typeface="Oswald Light"/>
                        </a:rPr>
                        <a:t>19.98 dB</a:t>
                      </a:r>
                      <a:endParaRPr sz="1600">
                        <a:solidFill>
                          <a:schemeClr val="dk1"/>
                        </a:solidFill>
                        <a:latin typeface="Oswald Light"/>
                        <a:ea typeface="Oswald Light"/>
                        <a:cs typeface="Oswald Light"/>
                        <a:sym typeface="Oswald Light"/>
                      </a:endParaRPr>
                    </a:p>
                  </a:txBody>
                  <a:tcPr marT="91425" marB="91425" marR="91425" marL="91425"/>
                </a:tc>
              </a:tr>
            </a:tbl>
          </a:graphicData>
        </a:graphic>
      </p:graphicFrame>
      <p:pic>
        <p:nvPicPr>
          <p:cNvPr id="190" name="Google Shape;190;p30"/>
          <p:cNvPicPr preferRelativeResize="0"/>
          <p:nvPr/>
        </p:nvPicPr>
        <p:blipFill rotWithShape="1">
          <a:blip r:embed="rId3">
            <a:alphaModFix/>
          </a:blip>
          <a:srcRect b="0" l="0" r="69878" t="7613"/>
          <a:stretch/>
        </p:blipFill>
        <p:spPr>
          <a:xfrm>
            <a:off x="390300" y="2611000"/>
            <a:ext cx="1719625" cy="1762176"/>
          </a:xfrm>
          <a:prstGeom prst="rect">
            <a:avLst/>
          </a:prstGeom>
          <a:noFill/>
          <a:ln>
            <a:noFill/>
          </a:ln>
        </p:spPr>
      </p:pic>
      <p:pic>
        <p:nvPicPr>
          <p:cNvPr id="191" name="Google Shape;191;p30"/>
          <p:cNvPicPr preferRelativeResize="0"/>
          <p:nvPr/>
        </p:nvPicPr>
        <p:blipFill rotWithShape="1">
          <a:blip r:embed="rId3">
            <a:alphaModFix/>
          </a:blip>
          <a:srcRect b="0" l="34611" r="35267" t="5962"/>
          <a:stretch/>
        </p:blipFill>
        <p:spPr>
          <a:xfrm>
            <a:off x="2628550" y="2672687"/>
            <a:ext cx="1719625" cy="1709575"/>
          </a:xfrm>
          <a:prstGeom prst="rect">
            <a:avLst/>
          </a:prstGeom>
          <a:noFill/>
          <a:ln>
            <a:noFill/>
          </a:ln>
        </p:spPr>
      </p:pic>
      <p:pic>
        <p:nvPicPr>
          <p:cNvPr id="192" name="Google Shape;192;p30"/>
          <p:cNvPicPr preferRelativeResize="0"/>
          <p:nvPr/>
        </p:nvPicPr>
        <p:blipFill rotWithShape="1">
          <a:blip r:embed="rId3">
            <a:alphaModFix/>
          </a:blip>
          <a:srcRect b="0" l="69878" r="0" t="7029"/>
          <a:stretch/>
        </p:blipFill>
        <p:spPr>
          <a:xfrm>
            <a:off x="7027650" y="2750187"/>
            <a:ext cx="1642200" cy="1616357"/>
          </a:xfrm>
          <a:prstGeom prst="rect">
            <a:avLst/>
          </a:prstGeom>
          <a:noFill/>
          <a:ln>
            <a:noFill/>
          </a:ln>
        </p:spPr>
      </p:pic>
      <p:pic>
        <p:nvPicPr>
          <p:cNvPr id="193" name="Google Shape;193;p30"/>
          <p:cNvPicPr preferRelativeResize="0"/>
          <p:nvPr/>
        </p:nvPicPr>
        <p:blipFill rotWithShape="1">
          <a:blip r:embed="rId4">
            <a:alphaModFix/>
          </a:blip>
          <a:srcRect b="0" l="54810" r="0" t="9804"/>
          <a:stretch/>
        </p:blipFill>
        <p:spPr>
          <a:xfrm>
            <a:off x="4866813" y="2719313"/>
            <a:ext cx="1642200" cy="1616350"/>
          </a:xfrm>
          <a:prstGeom prst="rect">
            <a:avLst/>
          </a:prstGeom>
          <a:noFill/>
          <a:ln>
            <a:noFill/>
          </a:ln>
        </p:spPr>
      </p:pic>
      <p:sp>
        <p:nvSpPr>
          <p:cNvPr id="194" name="Google Shape;194;p30"/>
          <p:cNvSpPr txBox="1"/>
          <p:nvPr/>
        </p:nvSpPr>
        <p:spPr>
          <a:xfrm>
            <a:off x="429000" y="2142625"/>
            <a:ext cx="16422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600">
                <a:solidFill>
                  <a:schemeClr val="accent3"/>
                </a:solidFill>
                <a:latin typeface="Average"/>
                <a:ea typeface="Average"/>
                <a:cs typeface="Average"/>
                <a:sym typeface="Average"/>
              </a:rPr>
              <a:t>Original Image</a:t>
            </a:r>
            <a:endParaRPr sz="1600">
              <a:solidFill>
                <a:schemeClr val="accent3"/>
              </a:solidFill>
              <a:latin typeface="Average"/>
              <a:ea typeface="Average"/>
              <a:cs typeface="Average"/>
              <a:sym typeface="Average"/>
            </a:endParaRPr>
          </a:p>
        </p:txBody>
      </p:sp>
      <p:sp>
        <p:nvSpPr>
          <p:cNvPr id="195" name="Google Shape;195;p30"/>
          <p:cNvSpPr txBox="1"/>
          <p:nvPr/>
        </p:nvSpPr>
        <p:spPr>
          <a:xfrm>
            <a:off x="2406563" y="2105350"/>
            <a:ext cx="21636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600">
                <a:solidFill>
                  <a:schemeClr val="accent3"/>
                </a:solidFill>
                <a:latin typeface="Average"/>
                <a:ea typeface="Average"/>
                <a:cs typeface="Average"/>
                <a:sym typeface="Average"/>
              </a:rPr>
              <a:t>Laplace Reconstruction</a:t>
            </a:r>
            <a:endParaRPr sz="1600">
              <a:solidFill>
                <a:schemeClr val="accent3"/>
              </a:solidFill>
              <a:latin typeface="Average"/>
              <a:ea typeface="Average"/>
              <a:cs typeface="Average"/>
              <a:sym typeface="Average"/>
            </a:endParaRPr>
          </a:p>
        </p:txBody>
      </p:sp>
      <p:sp>
        <p:nvSpPr>
          <p:cNvPr id="196" name="Google Shape;196;p30"/>
          <p:cNvSpPr txBox="1"/>
          <p:nvPr/>
        </p:nvSpPr>
        <p:spPr>
          <a:xfrm>
            <a:off x="4570187" y="2061100"/>
            <a:ext cx="21636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600">
                <a:solidFill>
                  <a:schemeClr val="accent3"/>
                </a:solidFill>
                <a:latin typeface="Average"/>
                <a:ea typeface="Average"/>
                <a:cs typeface="Average"/>
                <a:sym typeface="Average"/>
              </a:rPr>
              <a:t>Gaussian Reconstruction</a:t>
            </a:r>
            <a:endParaRPr sz="1600">
              <a:solidFill>
                <a:schemeClr val="accent3"/>
              </a:solidFill>
              <a:latin typeface="Average"/>
              <a:ea typeface="Average"/>
              <a:cs typeface="Average"/>
              <a:sym typeface="Average"/>
            </a:endParaRPr>
          </a:p>
        </p:txBody>
      </p:sp>
      <p:sp>
        <p:nvSpPr>
          <p:cNvPr id="197" name="Google Shape;197;p30"/>
          <p:cNvSpPr txBox="1"/>
          <p:nvPr/>
        </p:nvSpPr>
        <p:spPr>
          <a:xfrm>
            <a:off x="6646250" y="2074450"/>
            <a:ext cx="22635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accent3"/>
                </a:solidFill>
                <a:latin typeface="Average"/>
                <a:ea typeface="Average"/>
                <a:cs typeface="Average"/>
                <a:sym typeface="Average"/>
              </a:rPr>
              <a:t>Zero-filled FFT Reconstruction</a:t>
            </a:r>
            <a:endParaRPr sz="1800">
              <a:solidFill>
                <a:schemeClr val="accent3"/>
              </a:solidFill>
              <a:latin typeface="Average"/>
              <a:ea typeface="Average"/>
              <a:cs typeface="Average"/>
              <a:sym typeface="Average"/>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Initial Results pt. 2</a:t>
            </a:r>
            <a:endParaRPr/>
          </a:p>
        </p:txBody>
      </p:sp>
      <p:sp>
        <p:nvSpPr>
          <p:cNvPr id="203" name="Google Shape;203;p31"/>
          <p:cNvSpPr txBox="1"/>
          <p:nvPr>
            <p:ph idx="1" type="body"/>
          </p:nvPr>
        </p:nvSpPr>
        <p:spPr>
          <a:xfrm>
            <a:off x="311550" y="1017725"/>
            <a:ext cx="8520600" cy="1057800"/>
          </a:xfrm>
          <a:prstGeom prst="rect">
            <a:avLst/>
          </a:prstGeom>
        </p:spPr>
        <p:txBody>
          <a:bodyPr anchorCtr="0" anchor="t" bIns="91425" lIns="91425" spcFirstLastPara="1" rIns="91425" wrap="square" tIns="91425">
            <a:normAutofit fontScale="85000" lnSpcReduction="20000"/>
          </a:bodyPr>
          <a:lstStyle/>
          <a:p>
            <a:pPr indent="-325755" lvl="0" marL="457200" rtl="0" algn="l">
              <a:spcBef>
                <a:spcPts val="0"/>
              </a:spcBef>
              <a:spcAft>
                <a:spcPts val="0"/>
              </a:spcAft>
              <a:buSzPct val="100000"/>
              <a:buChar char="●"/>
            </a:pPr>
            <a:r>
              <a:rPr lang="en"/>
              <a:t>Modern MRI reconstruction often uses learned priors (CNNs/diffusion models)</a:t>
            </a:r>
            <a:endParaRPr/>
          </a:p>
          <a:p>
            <a:pPr indent="-325755" lvl="0" marL="457200" rtl="0" algn="l">
              <a:spcBef>
                <a:spcPts val="0"/>
              </a:spcBef>
              <a:spcAft>
                <a:spcPts val="0"/>
              </a:spcAft>
              <a:buSzPct val="100000"/>
              <a:buChar char="●"/>
            </a:pPr>
            <a:r>
              <a:rPr lang="en"/>
              <a:t>Trained a small residual CNN, then reconstructed the same slice we used the kernel method on</a:t>
            </a:r>
            <a:endParaRPr/>
          </a:p>
          <a:p>
            <a:pPr indent="0" lvl="0" marL="0" rtl="0" algn="l">
              <a:spcBef>
                <a:spcPts val="1200"/>
              </a:spcBef>
              <a:spcAft>
                <a:spcPts val="1200"/>
              </a:spcAft>
              <a:buNone/>
            </a:pPr>
            <a:r>
              <a:t/>
            </a:r>
            <a:endParaRPr/>
          </a:p>
        </p:txBody>
      </p:sp>
      <p:pic>
        <p:nvPicPr>
          <p:cNvPr id="204" name="Google Shape;204;p31"/>
          <p:cNvPicPr preferRelativeResize="0"/>
          <p:nvPr/>
        </p:nvPicPr>
        <p:blipFill>
          <a:blip r:embed="rId3">
            <a:alphaModFix/>
          </a:blip>
          <a:stretch>
            <a:fillRect/>
          </a:stretch>
        </p:blipFill>
        <p:spPr>
          <a:xfrm>
            <a:off x="954350" y="1735047"/>
            <a:ext cx="7234999" cy="2489225"/>
          </a:xfrm>
          <a:prstGeom prst="rect">
            <a:avLst/>
          </a:prstGeom>
          <a:noFill/>
          <a:ln>
            <a:noFill/>
          </a:ln>
        </p:spPr>
      </p:pic>
      <p:sp>
        <p:nvSpPr>
          <p:cNvPr id="205" name="Google Shape;205;p31"/>
          <p:cNvSpPr txBox="1"/>
          <p:nvPr/>
        </p:nvSpPr>
        <p:spPr>
          <a:xfrm>
            <a:off x="422400" y="4224275"/>
            <a:ext cx="82989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accent3"/>
                </a:solidFill>
                <a:latin typeface="Average"/>
                <a:ea typeface="Average"/>
                <a:cs typeface="Average"/>
                <a:sym typeface="Average"/>
              </a:rPr>
              <a:t>Gaussian kernel still achieves highest PSNR, implying the </a:t>
            </a:r>
            <a:r>
              <a:rPr lang="en" sz="1800">
                <a:solidFill>
                  <a:schemeClr val="accent3"/>
                </a:solidFill>
                <a:latin typeface="Average"/>
                <a:ea typeface="Average"/>
                <a:cs typeface="Average"/>
                <a:sym typeface="Average"/>
              </a:rPr>
              <a:t>kernel</a:t>
            </a:r>
            <a:r>
              <a:rPr lang="en" sz="1800">
                <a:solidFill>
                  <a:schemeClr val="accent3"/>
                </a:solidFill>
                <a:latin typeface="Average"/>
                <a:ea typeface="Average"/>
                <a:cs typeface="Average"/>
                <a:sym typeface="Average"/>
              </a:rPr>
              <a:t> method is </a:t>
            </a:r>
            <a:r>
              <a:rPr lang="en" sz="1800">
                <a:solidFill>
                  <a:schemeClr val="accent3"/>
                </a:solidFill>
                <a:latin typeface="Average"/>
                <a:ea typeface="Average"/>
                <a:cs typeface="Average"/>
                <a:sym typeface="Average"/>
              </a:rPr>
              <a:t>competitive</a:t>
            </a:r>
            <a:r>
              <a:rPr lang="en" sz="1800">
                <a:solidFill>
                  <a:schemeClr val="accent3"/>
                </a:solidFill>
                <a:latin typeface="Average"/>
                <a:ea typeface="Average"/>
                <a:cs typeface="Average"/>
                <a:sym typeface="Average"/>
              </a:rPr>
              <a:t> to traditional, learned methods.</a:t>
            </a:r>
            <a:endParaRPr sz="1800">
              <a:solidFill>
                <a:schemeClr val="accent3"/>
              </a:solidFill>
              <a:latin typeface="Average"/>
              <a:ea typeface="Average"/>
              <a:cs typeface="Average"/>
              <a:sym typeface="Average"/>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2"/>
          <p:cNvSpPr txBox="1"/>
          <p:nvPr>
            <p:ph type="title"/>
          </p:nvPr>
        </p:nvSpPr>
        <p:spPr>
          <a:xfrm>
            <a:off x="311700" y="2434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Next Steps</a:t>
            </a:r>
            <a:endParaRPr/>
          </a:p>
        </p:txBody>
      </p:sp>
      <p:sp>
        <p:nvSpPr>
          <p:cNvPr id="211" name="Google Shape;211;p32"/>
          <p:cNvSpPr txBox="1"/>
          <p:nvPr>
            <p:ph idx="1" type="body"/>
          </p:nvPr>
        </p:nvSpPr>
        <p:spPr>
          <a:xfrm>
            <a:off x="311700" y="816150"/>
            <a:ext cx="8520600" cy="35511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en"/>
              <a:t>Moving toward more general image reconstruction/upscaling due to difficulty in determining medical benchmarks</a:t>
            </a:r>
            <a:endParaRPr/>
          </a:p>
          <a:p>
            <a:pPr indent="-342900" lvl="0" marL="457200" rtl="0" algn="l">
              <a:spcBef>
                <a:spcPts val="0"/>
              </a:spcBef>
              <a:spcAft>
                <a:spcPts val="0"/>
              </a:spcAft>
              <a:buSzPts val="1800"/>
              <a:buChar char="●"/>
            </a:pPr>
            <a:r>
              <a:rPr lang="en"/>
              <a:t>Combining the kernel </a:t>
            </a:r>
            <a:r>
              <a:rPr lang="en"/>
              <a:t>approach</a:t>
            </a:r>
            <a:r>
              <a:rPr lang="en"/>
              <a:t> with neural networks</a:t>
            </a:r>
            <a:endParaRPr/>
          </a:p>
          <a:p>
            <a:pPr indent="-317500" lvl="1" marL="914400" rtl="0" algn="l">
              <a:spcBef>
                <a:spcPts val="0"/>
              </a:spcBef>
              <a:spcAft>
                <a:spcPts val="0"/>
              </a:spcAft>
              <a:buSzPts val="1400"/>
              <a:buChar char="○"/>
            </a:pPr>
            <a:r>
              <a:rPr lang="en"/>
              <a:t>Use kernels to get a smooth reconstruction</a:t>
            </a:r>
            <a:endParaRPr/>
          </a:p>
          <a:p>
            <a:pPr indent="-317500" lvl="1" marL="914400" rtl="0" algn="l">
              <a:spcBef>
                <a:spcPts val="0"/>
              </a:spcBef>
              <a:spcAft>
                <a:spcPts val="0"/>
              </a:spcAft>
              <a:buSzPts val="1400"/>
              <a:buChar char="○"/>
            </a:pPr>
            <a:r>
              <a:rPr lang="en"/>
              <a:t>Feed the reconstruction into a neural network</a:t>
            </a:r>
            <a:endParaRPr/>
          </a:p>
          <a:p>
            <a:pPr indent="-317500" lvl="1" marL="914400" rtl="0" algn="l">
              <a:spcBef>
                <a:spcPts val="0"/>
              </a:spcBef>
              <a:spcAft>
                <a:spcPts val="0"/>
              </a:spcAft>
              <a:buSzPts val="1400"/>
              <a:buChar char="○"/>
            </a:pPr>
            <a:r>
              <a:rPr lang="en"/>
              <a:t>Network learns the residual and works as a residual corrector</a:t>
            </a:r>
            <a:endParaRPr/>
          </a:p>
          <a:p>
            <a:pPr indent="-317500" lvl="1" marL="914400" rtl="0" algn="l">
              <a:spcBef>
                <a:spcPts val="0"/>
              </a:spcBef>
              <a:spcAft>
                <a:spcPts val="0"/>
              </a:spcAft>
              <a:buSzPts val="1400"/>
              <a:buChar char="○"/>
            </a:pPr>
            <a:r>
              <a:rPr lang="en"/>
              <a:t>Can only modify the unobserved regions of k-space</a:t>
            </a:r>
            <a:endParaRPr/>
          </a:p>
          <a:p>
            <a:pPr indent="-342900" lvl="0" marL="457200" rtl="0" algn="l">
              <a:spcBef>
                <a:spcPts val="0"/>
              </a:spcBef>
              <a:spcAft>
                <a:spcPts val="0"/>
              </a:spcAft>
              <a:buSzPts val="1800"/>
              <a:buChar char="●"/>
            </a:pPr>
            <a:r>
              <a:rPr lang="en"/>
              <a:t>Using the Structural Similarity Index as another metric of success</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342900" lvl="0" marL="457200" rtl="0" algn="l">
              <a:spcBef>
                <a:spcPts val="1200"/>
              </a:spcBef>
              <a:spcAft>
                <a:spcPts val="0"/>
              </a:spcAft>
              <a:buSzPts val="1800"/>
              <a:buChar char="●"/>
            </a:pPr>
            <a:r>
              <a:rPr lang="en"/>
              <a:t>Explore different deep learning and neural network upsampling strategies (</a:t>
            </a:r>
            <a:r>
              <a:rPr lang="en"/>
              <a:t>Pre,</a:t>
            </a:r>
            <a:r>
              <a:rPr lang="en"/>
              <a:t> Post, and Progressive)</a:t>
            </a:r>
            <a:endParaRPr/>
          </a:p>
        </p:txBody>
      </p:sp>
      <p:pic>
        <p:nvPicPr>
          <p:cNvPr id="212" name="Google Shape;212;p32"/>
          <p:cNvPicPr preferRelativeResize="0"/>
          <p:nvPr/>
        </p:nvPicPr>
        <p:blipFill>
          <a:blip r:embed="rId3">
            <a:alphaModFix/>
          </a:blip>
          <a:stretch>
            <a:fillRect/>
          </a:stretch>
        </p:blipFill>
        <p:spPr>
          <a:xfrm>
            <a:off x="797100" y="2819272"/>
            <a:ext cx="6413652" cy="8738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late">
  <a:themeElements>
    <a:clrScheme name="Slate">
      <a:dk1>
        <a:srgbClr val="FFFFFF"/>
      </a:dk1>
      <a:lt1>
        <a:srgbClr val="37474F"/>
      </a:lt1>
      <a:dk2>
        <a:srgbClr val="9E9E9E"/>
      </a:dk2>
      <a:lt2>
        <a:srgbClr val="E0E0E0"/>
      </a:lt2>
      <a:accent1>
        <a:srgbClr val="616161"/>
      </a:accent1>
      <a:accent2>
        <a:srgbClr val="78909C"/>
      </a:accent2>
      <a:accent3>
        <a:srgbClr val="CACACA"/>
      </a:accent3>
      <a:accent4>
        <a:srgbClr val="64FFDA"/>
      </a:accent4>
      <a:accent5>
        <a:srgbClr val="FFD966"/>
      </a:accent5>
      <a:accent6>
        <a:srgbClr val="F5F5F5"/>
      </a:accent6>
      <a:hlink>
        <a:srgbClr val="FFD966"/>
      </a:hlink>
      <a:folHlink>
        <a:srgbClr val="FFD9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